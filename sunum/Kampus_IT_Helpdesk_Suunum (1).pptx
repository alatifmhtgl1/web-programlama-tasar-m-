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0" d="100"/>
          <a:sy n="140" d="100"/>
        </p:scale>
        <p:origin x="77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3095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ERIK">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868680"/>
            <a:ext cx="8229600" cy="27432"/>
          </a:xfrm>
          <a:prstGeom prst="rect">
            <a:avLst/>
          </a:prstGeom>
          <a:solidFill>
            <a:srgbClr val="1F3A5F"/>
          </a:solidFill>
          <a:ln/>
        </p:spPr>
        <p:txBody>
          <a:bodyPr/>
          <a:lstStyle/>
          <a:p>
            <a:endParaRPr lang="tr-TR"/>
          </a:p>
        </p:txBody>
      </p:sp>
      <p:sp>
        <p:nvSpPr>
          <p:cNvPr id="3" name="Text 1"/>
          <p:cNvSpPr>
            <a:spLocks noGrp="1"/>
          </p:cNvSpPr>
          <p:nvPr>
            <p:ph type="title" idx="101" hasCustomPrompt="1"/>
          </p:nvPr>
        </p:nvSpPr>
        <p:spPr>
          <a:xfrm>
            <a:off x="457200" y="274320"/>
            <a:ext cx="8229600" cy="548640"/>
          </a:xfrm>
          <a:prstGeom prst="rect">
            <a:avLst/>
          </a:prstGeom>
          <a:noFill/>
          <a:ln/>
        </p:spPr>
        <p:txBody>
          <a:bodyPr wrap="square" rtlCol="0"/>
          <a:lstStyle>
            <a:lvl1pPr marL="0" indent="0">
              <a:buNone/>
              <a:defRPr lang="en-US" sz="2400" b="1" dirty="0">
                <a:solidFill>
                  <a:srgbClr val="1F3A5F"/>
                </a:solidFill>
              </a:defRPr>
            </a:lvl1pPr>
          </a:lstStyle>
          <a:p>
            <a:pPr marL="0" indent="0">
              <a:buNone/>
            </a:pPr>
            <a:endParaRPr lang="en-US" sz="2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1F3A5F"/>
          </a:solidFill>
          <a:ln/>
        </p:spPr>
        <p:txBody>
          <a:bodyPr/>
          <a:lstStyle/>
          <a:p>
            <a:endParaRPr lang="tr-TR"/>
          </a:p>
        </p:txBody>
      </p:sp>
      <p:sp>
        <p:nvSpPr>
          <p:cNvPr id="3" name="Text 1"/>
          <p:cNvSpPr txBox="1"/>
          <p:nvPr/>
        </p:nvSpPr>
        <p:spPr>
          <a:xfrm>
            <a:off x="822960" y="914400"/>
            <a:ext cx="7589520" cy="1097280"/>
          </a:xfrm>
          <a:prstGeom prst="rect">
            <a:avLst/>
          </a:prstGeom>
          <a:noFill/>
          <a:ln/>
        </p:spPr>
        <p:txBody>
          <a:bodyPr wrap="square" lIns="0" tIns="0" rIns="0" bIns="0" rtlCol="0" anchor="t"/>
          <a:lstStyle/>
          <a:p>
            <a:pPr marL="0" indent="0">
              <a:buNone/>
            </a:pPr>
            <a:r>
              <a:rPr lang="en-US" sz="3000" b="1" dirty="0">
                <a:solidFill>
                  <a:srgbClr val="1F3A5F"/>
                </a:solidFill>
              </a:rPr>
              <a:t>Kampüs IT Destek ve Arıza Bildirim Sistemi (Helpdesk)</a:t>
            </a:r>
            <a:endParaRPr lang="en-US" sz="3000" dirty="0"/>
          </a:p>
        </p:txBody>
      </p:sp>
      <p:sp>
        <p:nvSpPr>
          <p:cNvPr id="4" name="Text 2"/>
          <p:cNvSpPr txBox="1"/>
          <p:nvPr/>
        </p:nvSpPr>
        <p:spPr>
          <a:xfrm>
            <a:off x="822960" y="2057400"/>
            <a:ext cx="7589520" cy="548640"/>
          </a:xfrm>
          <a:prstGeom prst="rect">
            <a:avLst/>
          </a:prstGeom>
          <a:noFill/>
          <a:ln/>
        </p:spPr>
        <p:txBody>
          <a:bodyPr wrap="square" lIns="0" tIns="0" rIns="0" bIns="0" rtlCol="0" anchor="t"/>
          <a:lstStyle/>
          <a:p>
            <a:pPr marL="0" indent="0">
              <a:buNone/>
            </a:pPr>
            <a:r>
              <a:rPr lang="en-US" sz="1500" dirty="0">
                <a:solidFill>
                  <a:srgbClr val="595959"/>
                </a:solidFill>
              </a:rPr>
              <a:t>Rol Tabanlı, Veritabanı Destekli Web Tabanlı Arıza Takip (Ticket) Uygulaması</a:t>
            </a:r>
            <a:endParaRPr lang="en-US" sz="1500" dirty="0"/>
          </a:p>
        </p:txBody>
      </p:sp>
      <p:sp>
        <p:nvSpPr>
          <p:cNvPr id="5" name="Shape 3"/>
          <p:cNvSpPr/>
          <p:nvPr/>
        </p:nvSpPr>
        <p:spPr>
          <a:xfrm>
            <a:off x="822960" y="2788920"/>
            <a:ext cx="1828800" cy="0"/>
          </a:xfrm>
          <a:prstGeom prst="line">
            <a:avLst/>
          </a:prstGeom>
          <a:noFill/>
          <a:ln w="12700">
            <a:solidFill>
              <a:srgbClr val="BFBFBF"/>
            </a:solidFill>
            <a:prstDash val="solid"/>
          </a:ln>
        </p:spPr>
        <p:txBody>
          <a:bodyPr/>
          <a:lstStyle/>
          <a:p>
            <a:endParaRPr lang="tr-TR"/>
          </a:p>
        </p:txBody>
      </p:sp>
      <p:sp>
        <p:nvSpPr>
          <p:cNvPr id="6" name="Text 4"/>
          <p:cNvSpPr txBox="1"/>
          <p:nvPr/>
        </p:nvSpPr>
        <p:spPr>
          <a:xfrm>
            <a:off x="822960" y="2926080"/>
            <a:ext cx="7589520" cy="1463040"/>
          </a:xfrm>
          <a:prstGeom prst="rect">
            <a:avLst/>
          </a:prstGeom>
          <a:noFill/>
          <a:ln/>
        </p:spPr>
        <p:txBody>
          <a:bodyPr wrap="square" lIns="0" tIns="0" rIns="0" bIns="0" rtlCol="0" anchor="t"/>
          <a:lstStyle/>
          <a:p>
            <a:pPr marL="0" indent="0">
              <a:spcAft>
                <a:spcPts val="400"/>
              </a:spcAft>
              <a:buNone/>
            </a:pPr>
            <a:r>
              <a:rPr lang="en-US" sz="1300" b="1" dirty="0">
                <a:solidFill>
                  <a:srgbClr val="222222"/>
                </a:solidFill>
              </a:rPr>
              <a:t>Kocaeli Sağlık ve Teknoloji Üniversitesi (KOSTÜ)</a:t>
            </a:r>
            <a:endParaRPr lang="en-US" sz="1300" dirty="0"/>
          </a:p>
          <a:p>
            <a:pPr marL="0" indent="0">
              <a:spcAft>
                <a:spcPts val="400"/>
              </a:spcAft>
              <a:buNone/>
            </a:pPr>
            <a:r>
              <a:rPr lang="en-US" sz="1300" dirty="0">
                <a:solidFill>
                  <a:srgbClr val="222222"/>
                </a:solidFill>
              </a:rPr>
              <a:t>Hazırlayanlar: </a:t>
            </a:r>
            <a:r>
              <a:rPr lang="tr-TR" sz="1300" dirty="0">
                <a:solidFill>
                  <a:srgbClr val="222222"/>
                </a:solidFill>
              </a:rPr>
              <a:t>Hale Özdaşçı - 240502020</a:t>
            </a:r>
            <a:r>
              <a:rPr lang="en-US" sz="1300" dirty="0">
                <a:solidFill>
                  <a:srgbClr val="222222"/>
                </a:solidFill>
              </a:rPr>
              <a:t> / </a:t>
            </a:r>
            <a:r>
              <a:rPr lang="tr-TR" sz="1300" dirty="0">
                <a:solidFill>
                  <a:srgbClr val="222222"/>
                </a:solidFill>
              </a:rPr>
              <a:t>Abdüllatif </a:t>
            </a:r>
            <a:r>
              <a:rPr lang="tr-TR" sz="1300" dirty="0" err="1">
                <a:solidFill>
                  <a:srgbClr val="222222"/>
                </a:solidFill>
              </a:rPr>
              <a:t>Mehtioğlu</a:t>
            </a:r>
            <a:r>
              <a:rPr lang="tr-TR" sz="1300" dirty="0">
                <a:solidFill>
                  <a:srgbClr val="222222"/>
                </a:solidFill>
              </a:rPr>
              <a:t> - 240502067</a:t>
            </a:r>
            <a:endParaRPr lang="en-US" sz="1300" dirty="0"/>
          </a:p>
          <a:p>
            <a:pPr marL="0" indent="0">
              <a:spcAft>
                <a:spcPts val="400"/>
              </a:spcAft>
              <a:buNone/>
            </a:pPr>
            <a:r>
              <a:rPr lang="en-US" sz="1300" dirty="0">
                <a:solidFill>
                  <a:srgbClr val="222222"/>
                </a:solidFill>
              </a:rPr>
              <a:t>Ders: </a:t>
            </a:r>
            <a:r>
              <a:rPr lang="tr-TR" sz="1300" dirty="0">
                <a:solidFill>
                  <a:srgbClr val="222222"/>
                </a:solidFill>
              </a:rPr>
              <a:t>Web Programlama</a:t>
            </a:r>
            <a:endParaRPr lang="en-US" sz="1300" dirty="0"/>
          </a:p>
          <a:p>
            <a:pPr marL="0" indent="0">
              <a:spcAft>
                <a:spcPts val="400"/>
              </a:spcAft>
              <a:buNone/>
            </a:pPr>
            <a:r>
              <a:rPr lang="en-US" sz="1300" dirty="0">
                <a:solidFill>
                  <a:srgbClr val="222222"/>
                </a:solidFill>
              </a:rPr>
              <a:t>Danışman: </a:t>
            </a:r>
            <a:r>
              <a:rPr lang="tr-TR" sz="1300" dirty="0">
                <a:solidFill>
                  <a:srgbClr val="222222"/>
                </a:solidFill>
              </a:rPr>
              <a:t>Dr. Öğr. Üyesi Fulya AKDENİZ</a:t>
            </a:r>
            <a:endParaRPr lang="en-US" sz="1300" dirty="0"/>
          </a:p>
          <a:p>
            <a:pPr marL="0" indent="0">
              <a:spcAft>
                <a:spcPts val="400"/>
              </a:spcAft>
              <a:buNone/>
            </a:pPr>
            <a:r>
              <a:rPr lang="en-US" sz="1300" dirty="0">
                <a:solidFill>
                  <a:srgbClr val="222222"/>
                </a:solidFill>
              </a:rPr>
              <a:t>Tarih: </a:t>
            </a:r>
            <a:r>
              <a:rPr lang="tr-TR" sz="1300" dirty="0">
                <a:solidFill>
                  <a:srgbClr val="222222"/>
                </a:solidFill>
              </a:rPr>
              <a:t>13.10.2026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F3A5F"/>
                </a:solidFill>
              </a:rPr>
              <a:t>Problem Tanımı ve Teknoloji Analizi</a:t>
            </a:r>
            <a:endParaRPr lang="en-US" sz="2400" dirty="0"/>
          </a:p>
        </p:txBody>
      </p:sp>
      <p:sp>
        <p:nvSpPr>
          <p:cNvPr id="3" name="Text 1"/>
          <p:cNvSpPr txBox="1"/>
          <p:nvPr/>
        </p:nvSpPr>
        <p:spPr>
          <a:xfrm>
            <a:off x="457200" y="1097280"/>
            <a:ext cx="3840480" cy="320040"/>
          </a:xfrm>
          <a:prstGeom prst="rect">
            <a:avLst/>
          </a:prstGeom>
          <a:noFill/>
          <a:ln/>
        </p:spPr>
        <p:txBody>
          <a:bodyPr wrap="square" lIns="0" tIns="0" rIns="0" bIns="0" rtlCol="0" anchor="ctr"/>
          <a:lstStyle/>
          <a:p>
            <a:pPr marL="0" indent="0">
              <a:buNone/>
            </a:pPr>
            <a:r>
              <a:rPr lang="en-US" sz="1400" b="1" dirty="0">
                <a:solidFill>
                  <a:srgbClr val="1F3A5F"/>
                </a:solidFill>
              </a:rPr>
              <a:t>Problem ve Çözüm</a:t>
            </a:r>
            <a:endParaRPr lang="en-US" sz="1400" dirty="0"/>
          </a:p>
        </p:txBody>
      </p:sp>
      <p:sp>
        <p:nvSpPr>
          <p:cNvPr id="4" name="Text 2"/>
          <p:cNvSpPr txBox="1"/>
          <p:nvPr/>
        </p:nvSpPr>
        <p:spPr>
          <a:xfrm>
            <a:off x="4754880" y="1097280"/>
            <a:ext cx="3931920" cy="320040"/>
          </a:xfrm>
          <a:prstGeom prst="rect">
            <a:avLst/>
          </a:prstGeom>
          <a:noFill/>
          <a:ln/>
        </p:spPr>
        <p:txBody>
          <a:bodyPr wrap="square" lIns="0" tIns="0" rIns="0" bIns="0" rtlCol="0" anchor="ctr"/>
          <a:lstStyle/>
          <a:p>
            <a:pPr marL="0" indent="0">
              <a:buNone/>
            </a:pPr>
            <a:r>
              <a:rPr lang="en-US" sz="1400" b="1" dirty="0">
                <a:solidFill>
                  <a:srgbClr val="1F3A5F"/>
                </a:solidFill>
              </a:rPr>
              <a:t>Teknoloji Tercihleri</a:t>
            </a:r>
            <a:endParaRPr lang="en-US" sz="1400" dirty="0"/>
          </a:p>
        </p:txBody>
      </p:sp>
      <p:sp>
        <p:nvSpPr>
          <p:cNvPr id="5" name="Text 3"/>
          <p:cNvSpPr txBox="1"/>
          <p:nvPr/>
        </p:nvSpPr>
        <p:spPr>
          <a:xfrm>
            <a:off x="457201" y="1463040"/>
            <a:ext cx="3931920" cy="2926080"/>
          </a:xfrm>
          <a:prstGeom prst="rect">
            <a:avLst/>
          </a:prstGeom>
          <a:noFill/>
          <a:ln/>
        </p:spPr>
        <p:txBody>
          <a:bodyPr wrap="square" lIns="0" tIns="0" rIns="0" bIns="0" rtlCol="0" anchor="t"/>
          <a:lstStyle/>
          <a:p>
            <a:r>
              <a:rPr lang="tr-TR" sz="1200" dirty="0"/>
              <a:t>Kampüste yaşanan internet bağlantısı, bilgisayar, projeksiyon, yazıcı, laboratuvar ekipmanı vb. teknik arızalar çoğu zaman telefon, e-posta ya da sözlü olarak bildiriliyor. Bildirimler farklı kanallarda kaldığı için hangi arızanın ne zaman iletildiğini, kimin ilgilendiğini ve çözümün hangi aşamada olduğunu takip etmek zorlaşıyor. Aynı sorun birden fazla kez bildirilebiliyor; acil arızalar da diğer taleplerin arasından kolayca gözden kaçabiliyor.</a:t>
            </a:r>
          </a:p>
          <a:p>
            <a:endParaRPr lang="tr-TR" sz="1200" dirty="0"/>
          </a:p>
          <a:p>
            <a:r>
              <a:rPr lang="tr-TR" sz="1200" dirty="0"/>
              <a:t>Bu proje kapsamında öğrenciler ve personel, arızayı tek bir platform üzerinden bildirecek. Bildirim sırasında arıza kategorisi, bulunduğu bina ve oda, açıklama ve gerekirse görsel eklenecek. Böylece teknik ekip sorunun nerede olduğunu ve müdahale için hangi bilgilere ihtiyaç duyduğunu baştan görebilecek. Talepler “Yeni”, “İnceleniyor”, “İşlemde” ve “Çözüldü” gibi durumlarla izlenecek; bildirim sahibi de talebinin son durumunu sistemden takip edebilecek</a:t>
            </a:r>
            <a:r>
              <a:rPr lang="tr-TR" sz="1400" dirty="0"/>
              <a:t>.</a:t>
            </a:r>
          </a:p>
          <a:p>
            <a:pPr>
              <a:spcAft>
                <a:spcPts val="1000"/>
              </a:spcAft>
              <a:buSzPct val="100000"/>
            </a:pPr>
            <a:endParaRPr lang="en-US" sz="1400" dirty="0"/>
          </a:p>
        </p:txBody>
      </p:sp>
      <p:sp>
        <p:nvSpPr>
          <p:cNvPr id="6" name="Text 4"/>
          <p:cNvSpPr txBox="1"/>
          <p:nvPr/>
        </p:nvSpPr>
        <p:spPr>
          <a:xfrm>
            <a:off x="4754880" y="1463040"/>
            <a:ext cx="3931920" cy="2926080"/>
          </a:xfrm>
          <a:prstGeom prst="rect">
            <a:avLst/>
          </a:prstGeom>
          <a:noFill/>
          <a:ln/>
        </p:spPr>
        <p:txBody>
          <a:bodyPr wrap="square" lIns="0" tIns="0" rIns="0" bIns="0" rtlCol="0" anchor="t"/>
          <a:lstStyle/>
          <a:p>
            <a:pPr marL="342900" indent="-342900">
              <a:spcAft>
                <a:spcPts val="1000"/>
              </a:spcAft>
              <a:buSzPct val="100000"/>
              <a:buChar char="•"/>
            </a:pPr>
            <a:r>
              <a:rPr lang="tr-TR" sz="1200" b="1" dirty="0" err="1">
                <a:solidFill>
                  <a:srgbClr val="222222"/>
                </a:solidFill>
              </a:rPr>
              <a:t>Frontend</a:t>
            </a:r>
            <a:r>
              <a:rPr lang="tr-TR" sz="1200" b="1" dirty="0">
                <a:solidFill>
                  <a:srgbClr val="222222"/>
                </a:solidFill>
              </a:rPr>
              <a:t> (Arayüz): </a:t>
            </a:r>
            <a:r>
              <a:rPr lang="tr-TR" sz="1200" dirty="0" err="1">
                <a:solidFill>
                  <a:srgbClr val="222222"/>
                </a:solidFill>
              </a:rPr>
              <a:t>React</a:t>
            </a:r>
            <a:r>
              <a:rPr lang="tr-TR" sz="1200" dirty="0">
                <a:solidFill>
                  <a:srgbClr val="222222"/>
                </a:solidFill>
              </a:rPr>
              <a:t> + </a:t>
            </a:r>
            <a:r>
              <a:rPr lang="tr-TR" sz="1200" dirty="0" err="1">
                <a:solidFill>
                  <a:srgbClr val="222222"/>
                </a:solidFill>
              </a:rPr>
              <a:t>Vite</a:t>
            </a:r>
            <a:endParaRPr lang="tr-TR" sz="1200" dirty="0">
              <a:solidFill>
                <a:srgbClr val="222222"/>
              </a:solidFill>
            </a:endParaRPr>
          </a:p>
          <a:p>
            <a:pPr marL="342900" indent="-342900">
              <a:spcAft>
                <a:spcPts val="1000"/>
              </a:spcAft>
              <a:buSzPct val="100000"/>
              <a:buChar char="•"/>
            </a:pPr>
            <a:r>
              <a:rPr lang="tr-TR" sz="1200" b="1" dirty="0" err="1"/>
              <a:t>Backend</a:t>
            </a:r>
            <a:r>
              <a:rPr lang="tr-TR" sz="1200" b="1" dirty="0"/>
              <a:t> (Sunucu):</a:t>
            </a:r>
            <a:r>
              <a:rPr lang="tr-TR" sz="1200" dirty="0"/>
              <a:t> C# .NET </a:t>
            </a:r>
            <a:r>
              <a:rPr lang="tr-TR" sz="1200" dirty="0" err="1"/>
              <a:t>Core</a:t>
            </a:r>
            <a:r>
              <a:rPr lang="tr-TR" sz="1200" dirty="0"/>
              <a:t> - Güvenli ve sağlam bir API altyapısı kurmak için.</a:t>
            </a:r>
          </a:p>
          <a:p>
            <a:pPr marL="342900" indent="-342900">
              <a:spcAft>
                <a:spcPts val="1000"/>
              </a:spcAft>
              <a:buSzPct val="100000"/>
              <a:buChar char="•"/>
            </a:pPr>
            <a:r>
              <a:rPr lang="tr-TR" sz="1200" b="1" dirty="0" err="1"/>
              <a:t>Veritabanı</a:t>
            </a:r>
            <a:r>
              <a:rPr lang="tr-TR" sz="1200" b="1" dirty="0"/>
              <a:t>:</a:t>
            </a:r>
            <a:r>
              <a:rPr lang="tr-TR" sz="1200" dirty="0"/>
              <a:t> MS SQL Server - Arıza ve kullanıcı kayıtlarımızı düzenli tutmak için.</a:t>
            </a:r>
          </a:p>
          <a:p>
            <a:pPr marL="342900" indent="-342900">
              <a:spcAft>
                <a:spcPts val="1000"/>
              </a:spcAft>
              <a:buSzPct val="100000"/>
              <a:buChar char="•"/>
            </a:pPr>
            <a:r>
              <a:rPr lang="tr-TR" sz="1200" b="1" dirty="0"/>
              <a:t>Güvenlik / Yetkilendirme:</a:t>
            </a:r>
            <a:r>
              <a:rPr lang="tr-TR" sz="1200" dirty="0"/>
              <a:t> ASP.NET </a:t>
            </a:r>
            <a:r>
              <a:rPr lang="tr-TR" sz="1200" dirty="0" err="1"/>
              <a:t>Core</a:t>
            </a:r>
            <a:r>
              <a:rPr lang="tr-TR" sz="1200" dirty="0"/>
              <a:t> Identity - Şifre güvenliği ve rol (Admin/Öğrenci) ayrımını sağlamak için.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F3A5F"/>
                </a:solidFill>
              </a:rPr>
              <a:t>Gereksinim Analizi</a:t>
            </a:r>
            <a:endParaRPr lang="en-US" sz="2400" dirty="0"/>
          </a:p>
        </p:txBody>
      </p:sp>
      <p:sp>
        <p:nvSpPr>
          <p:cNvPr id="3" name="Text 1"/>
          <p:cNvSpPr txBox="1"/>
          <p:nvPr/>
        </p:nvSpPr>
        <p:spPr>
          <a:xfrm>
            <a:off x="457200" y="1097280"/>
            <a:ext cx="2743200" cy="320040"/>
          </a:xfrm>
          <a:prstGeom prst="rect">
            <a:avLst/>
          </a:prstGeom>
          <a:noFill/>
          <a:ln/>
        </p:spPr>
        <p:txBody>
          <a:bodyPr wrap="square" lIns="0" tIns="0" rIns="0" bIns="0" rtlCol="0" anchor="ctr"/>
          <a:lstStyle/>
          <a:p>
            <a:pPr marL="0" indent="0">
              <a:buNone/>
            </a:pPr>
            <a:r>
              <a:rPr lang="en-US" sz="1400" b="1" dirty="0" err="1">
                <a:solidFill>
                  <a:srgbClr val="1F3A5F"/>
                </a:solidFill>
              </a:rPr>
              <a:t>Fonksiyonel</a:t>
            </a:r>
            <a:r>
              <a:rPr lang="en-US" sz="1400" b="1" dirty="0">
                <a:solidFill>
                  <a:srgbClr val="1F3A5F"/>
                </a:solidFill>
              </a:rPr>
              <a:t> </a:t>
            </a:r>
            <a:r>
              <a:rPr lang="en-US" sz="1400" b="1" dirty="0" err="1">
                <a:solidFill>
                  <a:srgbClr val="1F3A5F"/>
                </a:solidFill>
              </a:rPr>
              <a:t>Gereksinimler</a:t>
            </a:r>
            <a:endParaRPr lang="en-US" sz="1400" dirty="0"/>
          </a:p>
        </p:txBody>
      </p:sp>
      <p:sp>
        <p:nvSpPr>
          <p:cNvPr id="4" name="Text 2"/>
          <p:cNvSpPr txBox="1"/>
          <p:nvPr/>
        </p:nvSpPr>
        <p:spPr>
          <a:xfrm>
            <a:off x="3383280" y="1097280"/>
            <a:ext cx="2560320" cy="320040"/>
          </a:xfrm>
          <a:prstGeom prst="rect">
            <a:avLst/>
          </a:prstGeom>
          <a:noFill/>
          <a:ln/>
        </p:spPr>
        <p:txBody>
          <a:bodyPr wrap="square" lIns="0" tIns="0" rIns="0" bIns="0" rtlCol="0" anchor="ctr"/>
          <a:lstStyle/>
          <a:p>
            <a:pPr marL="0" indent="0">
              <a:buNone/>
            </a:pPr>
            <a:r>
              <a:rPr lang="en-US" sz="1400" b="1" dirty="0">
                <a:solidFill>
                  <a:srgbClr val="1F3A5F"/>
                </a:solidFill>
              </a:rPr>
              <a:t>Fonksiyonel Olmayan</a:t>
            </a:r>
            <a:endParaRPr lang="en-US" sz="1400" dirty="0"/>
          </a:p>
        </p:txBody>
      </p:sp>
      <p:sp>
        <p:nvSpPr>
          <p:cNvPr id="5" name="Text 3"/>
          <p:cNvSpPr txBox="1"/>
          <p:nvPr/>
        </p:nvSpPr>
        <p:spPr>
          <a:xfrm>
            <a:off x="6126480" y="1097280"/>
            <a:ext cx="2560320" cy="320040"/>
          </a:xfrm>
          <a:prstGeom prst="rect">
            <a:avLst/>
          </a:prstGeom>
          <a:noFill/>
          <a:ln/>
        </p:spPr>
        <p:txBody>
          <a:bodyPr wrap="square" lIns="0" tIns="0" rIns="0" bIns="0" rtlCol="0" anchor="ctr"/>
          <a:lstStyle/>
          <a:p>
            <a:pPr marL="0" indent="0">
              <a:buNone/>
            </a:pPr>
            <a:r>
              <a:rPr lang="en-US" sz="1400" b="1" dirty="0">
                <a:solidFill>
                  <a:srgbClr val="1F3A5F"/>
                </a:solidFill>
              </a:rPr>
              <a:t>Zorunlu Ekstra Özellikler</a:t>
            </a:r>
            <a:endParaRPr lang="en-US" sz="1400" dirty="0"/>
          </a:p>
        </p:txBody>
      </p:sp>
      <p:sp>
        <p:nvSpPr>
          <p:cNvPr id="6" name="Text 4"/>
          <p:cNvSpPr txBox="1"/>
          <p:nvPr/>
        </p:nvSpPr>
        <p:spPr>
          <a:xfrm>
            <a:off x="457200" y="1463040"/>
            <a:ext cx="2743200" cy="3108960"/>
          </a:xfrm>
          <a:prstGeom prst="rect">
            <a:avLst/>
          </a:prstGeom>
          <a:noFill/>
          <a:ln/>
        </p:spPr>
        <p:txBody>
          <a:bodyPr wrap="square" lIns="0" tIns="0" rIns="0" bIns="0" rtlCol="0" anchor="t"/>
          <a:lstStyle/>
          <a:p>
            <a:pPr marL="171450" indent="-171450">
              <a:spcAft>
                <a:spcPts val="500"/>
              </a:spcAft>
              <a:buFont typeface="Arial" panose="020B0604020202020204" pitchFamily="34" charset="0"/>
              <a:buChar char="•"/>
            </a:pPr>
            <a:r>
              <a:rPr lang="tr-TR" sz="1200" b="1" dirty="0"/>
              <a:t>Kullanıcılar (Öğrenci/Akademisyen):</a:t>
            </a:r>
            <a:r>
              <a:rPr lang="tr-TR" sz="1200" dirty="0"/>
              <a:t> Konum seçip fotoğraf yükleyerek arıza kaydı açar ve durumunu izler.</a:t>
            </a:r>
          </a:p>
          <a:p>
            <a:pPr marL="171450" indent="-171450">
              <a:spcAft>
                <a:spcPts val="500"/>
              </a:spcAft>
              <a:buFont typeface="Arial" panose="020B0604020202020204" pitchFamily="34" charset="0"/>
              <a:buChar char="•"/>
            </a:pPr>
            <a:r>
              <a:rPr lang="tr-TR" sz="1200" b="1" dirty="0"/>
              <a:t>Bilgi İşlem (Admin):</a:t>
            </a:r>
            <a:r>
              <a:rPr lang="tr-TR" sz="1200" dirty="0"/>
              <a:t> Gelen arızaları listeler ve "İşleme Alındı / Çözüldü" olarak günceller.</a:t>
            </a:r>
          </a:p>
          <a:p>
            <a:pPr>
              <a:spcAft>
                <a:spcPts val="500"/>
              </a:spcAft>
            </a:pPr>
            <a:endParaRPr lang="tr-TR" sz="1200" dirty="0"/>
          </a:p>
          <a:p>
            <a:pPr>
              <a:spcAft>
                <a:spcPts val="500"/>
              </a:spcAft>
            </a:pPr>
            <a:endParaRPr lang="en-US" sz="1150" dirty="0"/>
          </a:p>
        </p:txBody>
      </p:sp>
      <p:sp>
        <p:nvSpPr>
          <p:cNvPr id="7" name="Text 5"/>
          <p:cNvSpPr txBox="1"/>
          <p:nvPr/>
        </p:nvSpPr>
        <p:spPr>
          <a:xfrm>
            <a:off x="3383280" y="1463040"/>
            <a:ext cx="2560320" cy="3108960"/>
          </a:xfrm>
          <a:prstGeom prst="rect">
            <a:avLst/>
          </a:prstGeom>
          <a:noFill/>
          <a:ln/>
        </p:spPr>
        <p:txBody>
          <a:bodyPr wrap="square" lIns="0" tIns="0" rIns="0" bIns="0" rtlCol="0" anchor="t"/>
          <a:lstStyle/>
          <a:p>
            <a:pPr marL="171450" indent="-171450">
              <a:spcAft>
                <a:spcPts val="500"/>
              </a:spcAft>
              <a:buSzPct val="100000"/>
              <a:buFont typeface="Arial" panose="020B0604020202020204" pitchFamily="34" charset="0"/>
              <a:buChar char="•"/>
            </a:pPr>
            <a:r>
              <a:rPr lang="tr-TR" sz="1200" b="1" dirty="0"/>
              <a:t>Güvenlik:</a:t>
            </a:r>
            <a:r>
              <a:rPr lang="tr-TR" sz="1200" dirty="0"/>
              <a:t> Şifreler düz metin değil, kriptolu (</a:t>
            </a:r>
            <a:r>
              <a:rPr lang="tr-TR" sz="1200" dirty="0" err="1"/>
              <a:t>Hash</a:t>
            </a:r>
            <a:r>
              <a:rPr lang="tr-TR" sz="1200" dirty="0"/>
              <a:t>) olarak saklanır.</a:t>
            </a:r>
          </a:p>
          <a:p>
            <a:pPr marL="171450" indent="-171450">
              <a:spcAft>
                <a:spcPts val="500"/>
              </a:spcAft>
              <a:buSzPct val="100000"/>
              <a:buFont typeface="Arial" panose="020B0604020202020204" pitchFamily="34" charset="0"/>
              <a:buChar char="•"/>
            </a:pPr>
            <a:r>
              <a:rPr lang="tr-TR" sz="1200" b="1" dirty="0"/>
              <a:t>Performans:</a:t>
            </a:r>
            <a:r>
              <a:rPr lang="tr-TR" sz="1200" dirty="0"/>
              <a:t> Sunucu yorulmasın diye fotoğraflara maksimum 2 MB sınırı uygulanır.</a:t>
            </a:r>
          </a:p>
          <a:p>
            <a:pPr marL="171450" indent="-171450">
              <a:spcAft>
                <a:spcPts val="500"/>
              </a:spcAft>
              <a:buSzPct val="100000"/>
              <a:buFont typeface="Arial" panose="020B0604020202020204" pitchFamily="34" charset="0"/>
              <a:buChar char="•"/>
            </a:pPr>
            <a:r>
              <a:rPr lang="tr-TR" sz="1200" b="1" dirty="0"/>
              <a:t>Kullanılabilirlik:</a:t>
            </a:r>
            <a:r>
              <a:rPr lang="tr-TR" sz="1200" dirty="0"/>
              <a:t> Bulut tabanlıdır, tarayıcı olan her cihazdan hızlıca erişilir.</a:t>
            </a:r>
            <a:endParaRPr lang="en-US" sz="1150" dirty="0"/>
          </a:p>
        </p:txBody>
      </p:sp>
      <p:sp>
        <p:nvSpPr>
          <p:cNvPr id="8" name="Text 6"/>
          <p:cNvSpPr txBox="1"/>
          <p:nvPr/>
        </p:nvSpPr>
        <p:spPr>
          <a:xfrm>
            <a:off x="6126480" y="1463040"/>
            <a:ext cx="2560320" cy="3108960"/>
          </a:xfrm>
          <a:prstGeom prst="rect">
            <a:avLst/>
          </a:prstGeom>
          <a:noFill/>
          <a:ln/>
        </p:spPr>
        <p:txBody>
          <a:bodyPr wrap="square" lIns="0" tIns="0" rIns="0" bIns="0" rtlCol="0" anchor="t"/>
          <a:lstStyle/>
          <a:p>
            <a:pPr marL="171450" indent="-171450">
              <a:spcAft>
                <a:spcPts val="500"/>
              </a:spcAft>
              <a:buSzPct val="100000"/>
              <a:buFont typeface="Arial" panose="020B0604020202020204" pitchFamily="34" charset="0"/>
              <a:buChar char="•"/>
            </a:pPr>
            <a:r>
              <a:rPr lang="tr-TR" sz="1200" b="1" dirty="0"/>
              <a:t>Rol Yapısı:</a:t>
            </a:r>
            <a:r>
              <a:rPr lang="tr-TR" sz="1200" dirty="0"/>
              <a:t> Admin ve Normal Kullanıcı yetkileri kesin çizgilerle ayrılır.</a:t>
            </a:r>
          </a:p>
          <a:p>
            <a:pPr marL="171450" indent="-171450">
              <a:spcAft>
                <a:spcPts val="500"/>
              </a:spcAft>
              <a:buSzPct val="100000"/>
              <a:buFont typeface="Arial" panose="020B0604020202020204" pitchFamily="34" charset="0"/>
              <a:buChar char="•"/>
            </a:pPr>
            <a:r>
              <a:rPr lang="tr-TR" sz="1200" b="1" dirty="0"/>
              <a:t>Dosya Yükleme:</a:t>
            </a:r>
            <a:r>
              <a:rPr lang="tr-TR" sz="1200" dirty="0"/>
              <a:t> Arızalı cihazı kanıtlamak için sisteme görsel yüklenir.</a:t>
            </a:r>
          </a:p>
          <a:p>
            <a:pPr marL="171450" indent="-171450">
              <a:spcAft>
                <a:spcPts val="500"/>
              </a:spcAft>
              <a:buSzPct val="100000"/>
              <a:buFont typeface="Arial" panose="020B0604020202020204" pitchFamily="34" charset="0"/>
              <a:buChar char="•"/>
            </a:pPr>
            <a:r>
              <a:rPr lang="tr-TR" sz="1200" b="1" dirty="0"/>
              <a:t>Raporlama/Grafik:</a:t>
            </a:r>
            <a:r>
              <a:rPr lang="tr-TR" sz="1200" dirty="0"/>
              <a:t> Admin panelinde "En çok arıza veren yerler" grafikleri yer alır.</a:t>
            </a:r>
            <a:endParaRPr lang="en-US" sz="11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F3A5F"/>
                </a:solidFill>
              </a:rPr>
              <a:t>İş-Zaman Çizelgesi</a:t>
            </a:r>
            <a:endParaRPr lang="en-US" sz="2400" dirty="0"/>
          </a:p>
        </p:txBody>
      </p:sp>
      <p:sp>
        <p:nvSpPr>
          <p:cNvPr id="3" name="Text 1"/>
          <p:cNvSpPr txBox="1"/>
          <p:nvPr/>
        </p:nvSpPr>
        <p:spPr>
          <a:xfrm>
            <a:off x="457200" y="922977"/>
            <a:ext cx="8229600" cy="320040"/>
          </a:xfrm>
          <a:prstGeom prst="rect">
            <a:avLst/>
          </a:prstGeom>
          <a:noFill/>
          <a:ln/>
        </p:spPr>
        <p:txBody>
          <a:bodyPr wrap="square" lIns="0" tIns="0" rIns="0" bIns="0" rtlCol="0" anchor="ctr"/>
          <a:lstStyle/>
          <a:p>
            <a:pPr marL="0" indent="0">
              <a:buNone/>
            </a:pPr>
            <a:r>
              <a:rPr lang="en-US" sz="1300" b="1" dirty="0">
                <a:solidFill>
                  <a:srgbClr val="222222"/>
                </a:solidFill>
              </a:rPr>
              <a:t>Tablo 1. İş-Zaman Çizelgesi (12 Haftalık Süreç)</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3067739815"/>
              </p:ext>
            </p:extLst>
          </p:nvPr>
        </p:nvGraphicFramePr>
        <p:xfrm>
          <a:off x="457200" y="1205405"/>
          <a:ext cx="5721346" cy="3629016"/>
        </p:xfrm>
        <a:graphic>
          <a:graphicData uri="http://schemas.openxmlformats.org/drawingml/2006/table">
            <a:tbl>
              <a:tblPr/>
              <a:tblGrid>
                <a:gridCol w="465691">
                  <a:extLst>
                    <a:ext uri="{9D8B030D-6E8A-4147-A177-3AD203B41FA5}">
                      <a16:colId xmlns:a16="http://schemas.microsoft.com/office/drawing/2014/main" val="20000"/>
                    </a:ext>
                  </a:extLst>
                </a:gridCol>
                <a:gridCol w="2062347">
                  <a:extLst>
                    <a:ext uri="{9D8B030D-6E8A-4147-A177-3AD203B41FA5}">
                      <a16:colId xmlns:a16="http://schemas.microsoft.com/office/drawing/2014/main" val="20001"/>
                    </a:ext>
                  </a:extLst>
                </a:gridCol>
                <a:gridCol w="266109">
                  <a:extLst>
                    <a:ext uri="{9D8B030D-6E8A-4147-A177-3AD203B41FA5}">
                      <a16:colId xmlns:a16="http://schemas.microsoft.com/office/drawing/2014/main" val="20002"/>
                    </a:ext>
                  </a:extLst>
                </a:gridCol>
                <a:gridCol w="266109">
                  <a:extLst>
                    <a:ext uri="{9D8B030D-6E8A-4147-A177-3AD203B41FA5}">
                      <a16:colId xmlns:a16="http://schemas.microsoft.com/office/drawing/2014/main" val="20003"/>
                    </a:ext>
                  </a:extLst>
                </a:gridCol>
                <a:gridCol w="266109">
                  <a:extLst>
                    <a:ext uri="{9D8B030D-6E8A-4147-A177-3AD203B41FA5}">
                      <a16:colId xmlns:a16="http://schemas.microsoft.com/office/drawing/2014/main" val="20004"/>
                    </a:ext>
                  </a:extLst>
                </a:gridCol>
                <a:gridCol w="266109">
                  <a:extLst>
                    <a:ext uri="{9D8B030D-6E8A-4147-A177-3AD203B41FA5}">
                      <a16:colId xmlns:a16="http://schemas.microsoft.com/office/drawing/2014/main" val="20005"/>
                    </a:ext>
                  </a:extLst>
                </a:gridCol>
                <a:gridCol w="266109">
                  <a:extLst>
                    <a:ext uri="{9D8B030D-6E8A-4147-A177-3AD203B41FA5}">
                      <a16:colId xmlns:a16="http://schemas.microsoft.com/office/drawing/2014/main" val="20006"/>
                    </a:ext>
                  </a:extLst>
                </a:gridCol>
                <a:gridCol w="266109">
                  <a:extLst>
                    <a:ext uri="{9D8B030D-6E8A-4147-A177-3AD203B41FA5}">
                      <a16:colId xmlns:a16="http://schemas.microsoft.com/office/drawing/2014/main" val="20007"/>
                    </a:ext>
                  </a:extLst>
                </a:gridCol>
                <a:gridCol w="266109">
                  <a:extLst>
                    <a:ext uri="{9D8B030D-6E8A-4147-A177-3AD203B41FA5}">
                      <a16:colId xmlns:a16="http://schemas.microsoft.com/office/drawing/2014/main" val="20008"/>
                    </a:ext>
                  </a:extLst>
                </a:gridCol>
                <a:gridCol w="266109">
                  <a:extLst>
                    <a:ext uri="{9D8B030D-6E8A-4147-A177-3AD203B41FA5}">
                      <a16:colId xmlns:a16="http://schemas.microsoft.com/office/drawing/2014/main" val="20009"/>
                    </a:ext>
                  </a:extLst>
                </a:gridCol>
                <a:gridCol w="266109">
                  <a:extLst>
                    <a:ext uri="{9D8B030D-6E8A-4147-A177-3AD203B41FA5}">
                      <a16:colId xmlns:a16="http://schemas.microsoft.com/office/drawing/2014/main" val="20010"/>
                    </a:ext>
                  </a:extLst>
                </a:gridCol>
                <a:gridCol w="266109">
                  <a:extLst>
                    <a:ext uri="{9D8B030D-6E8A-4147-A177-3AD203B41FA5}">
                      <a16:colId xmlns:a16="http://schemas.microsoft.com/office/drawing/2014/main" val="20011"/>
                    </a:ext>
                  </a:extLst>
                </a:gridCol>
                <a:gridCol w="266109">
                  <a:extLst>
                    <a:ext uri="{9D8B030D-6E8A-4147-A177-3AD203B41FA5}">
                      <a16:colId xmlns:a16="http://schemas.microsoft.com/office/drawing/2014/main" val="20012"/>
                    </a:ext>
                  </a:extLst>
                </a:gridCol>
                <a:gridCol w="266109">
                  <a:extLst>
                    <a:ext uri="{9D8B030D-6E8A-4147-A177-3AD203B41FA5}">
                      <a16:colId xmlns:a16="http://schemas.microsoft.com/office/drawing/2014/main" val="20013"/>
                    </a:ext>
                  </a:extLst>
                </a:gridCol>
              </a:tblGrid>
              <a:tr h="227572">
                <a:tc rowSpan="2">
                  <a:txBody>
                    <a:bodyPr/>
                    <a:lstStyle/>
                    <a:p>
                      <a:pPr marL="0" indent="0" algn="ctr">
                        <a:buNone/>
                      </a:pPr>
                      <a:r>
                        <a:rPr lang="en-US" sz="1100" b="1" dirty="0">
                          <a:solidFill>
                            <a:srgbClr val="FFFFFF"/>
                          </a:solidFill>
                        </a:rPr>
                        <a:t>İş Paketi No</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rowSpan="2">
                  <a:txBody>
                    <a:bodyPr/>
                    <a:lstStyle/>
                    <a:p>
                      <a:pPr marL="0" indent="0" algn="l">
                        <a:buNone/>
                      </a:pPr>
                      <a:r>
                        <a:rPr lang="en-US" sz="1100" b="1" dirty="0">
                          <a:solidFill>
                            <a:srgbClr val="FFFFFF"/>
                          </a:solidFill>
                        </a:rPr>
                        <a:t>İş Paketi Adı</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gridSpan="4">
                  <a:txBody>
                    <a:bodyPr/>
                    <a:lstStyle/>
                    <a:p>
                      <a:pPr marL="0" indent="0" algn="ctr">
                        <a:buNone/>
                      </a:pPr>
                      <a:r>
                        <a:rPr lang="en-US" sz="1100" b="1" dirty="0">
                          <a:solidFill>
                            <a:srgbClr val="FFFFFF"/>
                          </a:solidFill>
                        </a:rPr>
                        <a:t>1. Ay (Ekim)</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hMerge="1">
                  <a:txBody>
                    <a:bodyPr/>
                    <a:lstStyle/>
                    <a:p>
                      <a:endParaRPr lang="tr-TR"/>
                    </a:p>
                  </a:txBody>
                  <a:tcPr/>
                </a:tc>
                <a:tc hMerge="1">
                  <a:txBody>
                    <a:bodyPr/>
                    <a:lstStyle/>
                    <a:p>
                      <a:endParaRPr lang="tr-TR"/>
                    </a:p>
                  </a:txBody>
                  <a:tcPr/>
                </a:tc>
                <a:tc hMerge="1">
                  <a:txBody>
                    <a:bodyPr/>
                    <a:lstStyle/>
                    <a:p>
                      <a:endParaRPr lang="tr-TR"/>
                    </a:p>
                  </a:txBody>
                  <a:tcPr/>
                </a:tc>
                <a:tc gridSpan="4">
                  <a:txBody>
                    <a:bodyPr/>
                    <a:lstStyle/>
                    <a:p>
                      <a:pPr marL="0" indent="0" algn="ctr">
                        <a:buNone/>
                      </a:pPr>
                      <a:r>
                        <a:rPr lang="en-US" sz="1100" b="1" dirty="0">
                          <a:solidFill>
                            <a:srgbClr val="FFFFFF"/>
                          </a:solidFill>
                        </a:rPr>
                        <a:t>2. Ay (Kasım)</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hMerge="1">
                  <a:txBody>
                    <a:bodyPr/>
                    <a:lstStyle/>
                    <a:p>
                      <a:endParaRPr lang="tr-TR"/>
                    </a:p>
                  </a:txBody>
                  <a:tcPr/>
                </a:tc>
                <a:tc hMerge="1">
                  <a:txBody>
                    <a:bodyPr/>
                    <a:lstStyle/>
                    <a:p>
                      <a:endParaRPr lang="tr-TR"/>
                    </a:p>
                  </a:txBody>
                  <a:tcPr/>
                </a:tc>
                <a:tc hMerge="1">
                  <a:txBody>
                    <a:bodyPr/>
                    <a:lstStyle/>
                    <a:p>
                      <a:endParaRPr lang="tr-TR"/>
                    </a:p>
                  </a:txBody>
                  <a:tcPr/>
                </a:tc>
                <a:tc gridSpan="4">
                  <a:txBody>
                    <a:bodyPr/>
                    <a:lstStyle/>
                    <a:p>
                      <a:pPr marL="0" indent="0" algn="ctr">
                        <a:buNone/>
                      </a:pPr>
                      <a:r>
                        <a:rPr lang="en-US" sz="1100" b="1" dirty="0">
                          <a:solidFill>
                            <a:srgbClr val="FFFFFF"/>
                          </a:solidFill>
                        </a:rPr>
                        <a:t>3. Ay (Aralık)</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10000"/>
                  </a:ext>
                </a:extLst>
              </a:tr>
              <a:tr h="266833">
                <a:tc vMerge="1">
                  <a:txBody>
                    <a:bodyPr/>
                    <a:lstStyle/>
                    <a:p>
                      <a:endParaRPr lang="tr-TR"/>
                    </a:p>
                  </a:txBody>
                  <a:tcPr/>
                </a:tc>
                <a:tc vMerge="1">
                  <a:txBody>
                    <a:bodyPr/>
                    <a:lstStyle/>
                    <a:p>
                      <a:endParaRPr lang="tr-TR"/>
                    </a:p>
                  </a:txBody>
                  <a:tcPr/>
                </a:tc>
                <a:tc>
                  <a:txBody>
                    <a:bodyPr/>
                    <a:lstStyle/>
                    <a:p>
                      <a:pPr marL="0" indent="0" algn="ctr">
                        <a:buNone/>
                      </a:pPr>
                      <a:r>
                        <a:rPr lang="en-US" sz="900" b="1" dirty="0">
                          <a:solidFill>
                            <a:srgbClr val="FFFFFF"/>
                          </a:solidFill>
                        </a:rPr>
                        <a:t>H1</a:t>
                      </a:r>
                      <a:endParaRPr lang="en-US" sz="9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900" b="1" dirty="0">
                          <a:solidFill>
                            <a:srgbClr val="FFFFFF"/>
                          </a:solidFill>
                        </a:rPr>
                        <a:t>H2</a:t>
                      </a:r>
                      <a:endParaRPr lang="en-US" sz="9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900" b="1" dirty="0">
                          <a:solidFill>
                            <a:srgbClr val="FFFFFF"/>
                          </a:solidFill>
                        </a:rPr>
                        <a:t>H3</a:t>
                      </a:r>
                      <a:endParaRPr lang="en-US" sz="9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900" b="1" dirty="0">
                          <a:solidFill>
                            <a:srgbClr val="FFFFFF"/>
                          </a:solidFill>
                        </a:rPr>
                        <a:t>H4</a:t>
                      </a:r>
                      <a:endParaRPr lang="en-US" sz="9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900" b="1" dirty="0">
                          <a:solidFill>
                            <a:srgbClr val="FFFFFF"/>
                          </a:solidFill>
                        </a:rPr>
                        <a:t>H5</a:t>
                      </a:r>
                      <a:endParaRPr lang="en-US" sz="9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900" b="1" dirty="0">
                          <a:solidFill>
                            <a:srgbClr val="FFFFFF"/>
                          </a:solidFill>
                        </a:rPr>
                        <a:t>H6</a:t>
                      </a:r>
                      <a:endParaRPr lang="en-US" sz="9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900" b="1" dirty="0">
                          <a:solidFill>
                            <a:srgbClr val="FFFFFF"/>
                          </a:solidFill>
                        </a:rPr>
                        <a:t>H7</a:t>
                      </a:r>
                      <a:endParaRPr lang="en-US" sz="9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900" b="1" dirty="0">
                          <a:solidFill>
                            <a:srgbClr val="FFFFFF"/>
                          </a:solidFill>
                        </a:rPr>
                        <a:t>H8</a:t>
                      </a:r>
                      <a:endParaRPr lang="en-US" sz="9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900" b="1" dirty="0">
                          <a:solidFill>
                            <a:srgbClr val="FFFFFF"/>
                          </a:solidFill>
                        </a:rPr>
                        <a:t>H9</a:t>
                      </a:r>
                      <a:endParaRPr lang="en-US" sz="9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900" b="1" dirty="0">
                          <a:solidFill>
                            <a:srgbClr val="FFFFFF"/>
                          </a:solidFill>
                        </a:rPr>
                        <a:t>H10</a:t>
                      </a:r>
                      <a:endParaRPr lang="en-US" sz="9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900" b="1" dirty="0">
                          <a:solidFill>
                            <a:srgbClr val="FFFFFF"/>
                          </a:solidFill>
                        </a:rPr>
                        <a:t>H11</a:t>
                      </a:r>
                      <a:endParaRPr lang="en-US" sz="9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900" b="1" dirty="0">
                          <a:solidFill>
                            <a:srgbClr val="FFFFFF"/>
                          </a:solidFill>
                        </a:rPr>
                        <a:t>H12</a:t>
                      </a:r>
                      <a:endParaRPr lang="en-US" sz="9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extLst>
                  <a:ext uri="{0D108BD9-81ED-4DB2-BD59-A6C34878D82A}">
                    <a16:rowId xmlns:a16="http://schemas.microsoft.com/office/drawing/2014/main" val="10001"/>
                  </a:ext>
                </a:extLst>
              </a:tr>
              <a:tr h="355581">
                <a:tc>
                  <a:txBody>
                    <a:bodyPr/>
                    <a:lstStyle/>
                    <a:p>
                      <a:pPr marL="0" indent="0" algn="ctr">
                        <a:buNone/>
                      </a:pPr>
                      <a:r>
                        <a:rPr lang="en-US" sz="1100" b="1" dirty="0">
                          <a:solidFill>
                            <a:srgbClr val="222222"/>
                          </a:solidFill>
                        </a:rPr>
                        <a:t>WP1</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22222"/>
                          </a:solidFill>
                        </a:rPr>
                        <a:t>GitHub kurulumu, gereksinim analizi ve sunum</a:t>
                      </a:r>
                      <a:endParaRPr lang="en-US" sz="10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rPr>
                        <a:t>X</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1100" b="1" dirty="0">
                          <a:solidFill>
                            <a:srgbClr val="FFFFFF"/>
                          </a:solidFill>
                        </a:rPr>
                        <a:t>X</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5581">
                <a:tc>
                  <a:txBody>
                    <a:bodyPr/>
                    <a:lstStyle/>
                    <a:p>
                      <a:pPr marL="0" indent="0" algn="ctr">
                        <a:buNone/>
                      </a:pPr>
                      <a:r>
                        <a:rPr lang="en-US" sz="1100" b="1" dirty="0">
                          <a:solidFill>
                            <a:srgbClr val="222222"/>
                          </a:solidFill>
                        </a:rPr>
                        <a:t>WP2</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000" dirty="0">
                          <a:solidFill>
                            <a:srgbClr val="222222"/>
                          </a:solidFill>
                        </a:rPr>
                        <a:t>.NET Core Backend, SQL veritabanı ve Identity ile rol yönetimi</a:t>
                      </a:r>
                      <a:endParaRPr lang="en-US" sz="10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100" b="1" dirty="0">
                          <a:solidFill>
                            <a:srgbClr val="FFFFFF"/>
                          </a:solidFill>
                        </a:rPr>
                        <a:t>X</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1100" b="1" dirty="0">
                          <a:solidFill>
                            <a:srgbClr val="FFFFFF"/>
                          </a:solidFill>
                        </a:rPr>
                        <a:t>X</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355581">
                <a:tc>
                  <a:txBody>
                    <a:bodyPr/>
                    <a:lstStyle/>
                    <a:p>
                      <a:pPr marL="0" indent="0" algn="ctr">
                        <a:buNone/>
                      </a:pPr>
                      <a:r>
                        <a:rPr lang="en-US" sz="1100" b="1" dirty="0">
                          <a:solidFill>
                            <a:srgbClr val="222222"/>
                          </a:solidFill>
                        </a:rPr>
                        <a:t>WP3</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22222"/>
                          </a:solidFill>
                        </a:rPr>
                        <a:t>React arayüzü, görsel yükleme ve IT raporlama grafikleri</a:t>
                      </a:r>
                      <a:endParaRPr lang="en-US" sz="10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rPr>
                        <a:t>X</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1100" b="1" dirty="0">
                          <a:solidFill>
                            <a:srgbClr val="FFFFFF"/>
                          </a:solidFill>
                        </a:rPr>
                        <a:t>X</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5581">
                <a:tc>
                  <a:txBody>
                    <a:bodyPr/>
                    <a:lstStyle/>
                    <a:p>
                      <a:pPr marL="0" indent="0" algn="ctr">
                        <a:buNone/>
                      </a:pPr>
                      <a:r>
                        <a:rPr lang="en-US" sz="1100" b="1" dirty="0">
                          <a:solidFill>
                            <a:srgbClr val="222222"/>
                          </a:solidFill>
                        </a:rPr>
                        <a:t>WP4</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000" dirty="0">
                          <a:solidFill>
                            <a:srgbClr val="222222"/>
                          </a:solidFill>
                        </a:rPr>
                        <a:t>Bulut sunucuya alım (Deploy) ve canlı yayın</a:t>
                      </a:r>
                      <a:endParaRPr lang="en-US" sz="10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100" b="1" dirty="0">
                          <a:solidFill>
                            <a:srgbClr val="FFFFFF"/>
                          </a:solidFill>
                        </a:rPr>
                        <a:t>X</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391140">
                <a:tc>
                  <a:txBody>
                    <a:bodyPr/>
                    <a:lstStyle/>
                    <a:p>
                      <a:pPr marL="0" indent="0" algn="ctr">
                        <a:buNone/>
                      </a:pPr>
                      <a:r>
                        <a:rPr lang="en-US" sz="1100" b="1" dirty="0">
                          <a:solidFill>
                            <a:srgbClr val="222222"/>
                          </a:solidFill>
                        </a:rPr>
                        <a:t>WP5</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22222"/>
                          </a:solidFill>
                        </a:rPr>
                        <a:t>Karşılıklı test (Bug Hunting), 100 hatanın PR ile kapatılması ve final teslimi</a:t>
                      </a:r>
                      <a:endParaRPr lang="en-US" sz="10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rPr>
                        <a:t>X</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1100" b="1" dirty="0">
                          <a:solidFill>
                            <a:srgbClr val="FFFFFF"/>
                          </a:solidFill>
                        </a:rPr>
                        <a:t>X</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1100" b="1" dirty="0">
                          <a:solidFill>
                            <a:srgbClr val="FFFFFF"/>
                          </a:solidFill>
                        </a:rPr>
                        <a:t>X</a:t>
                      </a: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1140">
                <a:tc>
                  <a:txBody>
                    <a:bodyPr/>
                    <a:lstStyle/>
                    <a:p>
                      <a:pPr marL="0" indent="0" algn="ctr">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0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4287705915"/>
                  </a:ext>
                </a:extLst>
              </a:tr>
              <a:tr h="391140">
                <a:tc>
                  <a:txBody>
                    <a:bodyPr/>
                    <a:lstStyle/>
                    <a:p>
                      <a:pPr marL="0" indent="0" algn="ctr">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0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ctr">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ctr">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4048167026"/>
                  </a:ext>
                </a:extLst>
              </a:tr>
              <a:tr h="391140">
                <a:tc>
                  <a:txBody>
                    <a:bodyPr/>
                    <a:lstStyle/>
                    <a:p>
                      <a:pPr marL="0" indent="0" algn="ctr">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0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100" dirty="0"/>
                    </a:p>
                  </a:txBody>
                  <a:tcPr marL="54864" marR="54864"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087107636"/>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F3A5F"/>
                </a:solidFill>
              </a:rPr>
              <a:t>Başarı Ölçütleri ve Risk Yönetimi</a:t>
            </a:r>
            <a:endParaRPr lang="en-US" sz="2400" dirty="0"/>
          </a:p>
        </p:txBody>
      </p:sp>
      <p:sp>
        <p:nvSpPr>
          <p:cNvPr id="3" name="Text 1"/>
          <p:cNvSpPr txBox="1"/>
          <p:nvPr/>
        </p:nvSpPr>
        <p:spPr>
          <a:xfrm>
            <a:off x="457200" y="1005840"/>
            <a:ext cx="8229600" cy="274320"/>
          </a:xfrm>
          <a:prstGeom prst="rect">
            <a:avLst/>
          </a:prstGeom>
          <a:noFill/>
          <a:ln/>
        </p:spPr>
        <p:txBody>
          <a:bodyPr wrap="square" lIns="0" tIns="0" rIns="0" bIns="0" rtlCol="0" anchor="ctr"/>
          <a:lstStyle/>
          <a:p>
            <a:pPr marL="0" indent="0">
              <a:buNone/>
            </a:pPr>
            <a:r>
              <a:rPr lang="en-US" sz="1200" b="1" dirty="0">
                <a:solidFill>
                  <a:srgbClr val="222222"/>
                </a:solidFill>
              </a:rPr>
              <a:t>Tablo 2. Başarı Ölçütleri Tablosu</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3128381669"/>
              </p:ext>
            </p:extLst>
          </p:nvPr>
        </p:nvGraphicFramePr>
        <p:xfrm>
          <a:off x="457200" y="1280160"/>
          <a:ext cx="8229600" cy="1691640"/>
        </p:xfrm>
        <a:graphic>
          <a:graphicData uri="http://schemas.openxmlformats.org/drawingml/2006/table">
            <a:tbl>
              <a:tblPr/>
              <a:tblGrid>
                <a:gridCol w="6400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11480">
                <a:tc>
                  <a:txBody>
                    <a:bodyPr/>
                    <a:lstStyle/>
                    <a:p>
                      <a:pPr marL="0" indent="0" algn="ctr">
                        <a:buNone/>
                      </a:pPr>
                      <a:r>
                        <a:rPr lang="en-US" sz="1000" b="1" dirty="0">
                          <a:solidFill>
                            <a:srgbClr val="FFFFFF"/>
                          </a:solidFill>
                        </a:rPr>
                        <a:t>İP No</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rPr>
                        <a:t>İş Paketi Hedefi</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rPr>
                        <a:t>Başarı Ölçütü (%, sayı, ifade, vb.)</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rPr>
                        <a:t>Projenin Başarısındaki Önemi (%)</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256032">
                <a:tc>
                  <a:txBody>
                    <a:bodyPr/>
                    <a:lstStyle/>
                    <a:p>
                      <a:pPr marL="0" indent="0" algn="ctr">
                        <a:buNone/>
                      </a:pPr>
                      <a:r>
                        <a:rPr lang="en-US" sz="1000" b="1" dirty="0">
                          <a:solidFill>
                            <a:srgbClr val="222222"/>
                          </a:solidFill>
                        </a:rPr>
                        <a:t>2.1</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22222"/>
                          </a:solidFill>
                        </a:rPr>
                        <a:t>Admin (IT) rolünün arıza yönetimi ve durum güncelleme yetkileri</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rPr>
                        <a:t>%100</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rPr>
                        <a:t>%15</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000" b="1" dirty="0">
                          <a:solidFill>
                            <a:srgbClr val="222222"/>
                          </a:solidFill>
                        </a:rPr>
                        <a:t>2.2</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000" dirty="0">
                          <a:solidFill>
                            <a:srgbClr val="222222"/>
                          </a:solidFill>
                        </a:rPr>
                        <a:t>Kullanıcı rolünün kayıt, oturum ve kendi kayıtlarını izleme yetkileri</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222222"/>
                          </a:solidFill>
                        </a:rPr>
                        <a:t>%100</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222222"/>
                          </a:solidFill>
                        </a:rPr>
                        <a:t>%15</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256032">
                <a:tc>
                  <a:txBody>
                    <a:bodyPr/>
                    <a:lstStyle/>
                    <a:p>
                      <a:pPr marL="0" indent="0" algn="ctr">
                        <a:buNone/>
                      </a:pPr>
                      <a:r>
                        <a:rPr lang="en-US" sz="1000" b="1" dirty="0">
                          <a:solidFill>
                            <a:srgbClr val="222222"/>
                          </a:solidFill>
                        </a:rPr>
                        <a:t>3.1</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22222"/>
                          </a:solidFill>
                        </a:rPr>
                        <a:t>Arıza fotoğrafının sisteme hatasız yüklenmesi</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rPr>
                        <a:t>%100</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rPr>
                        <a:t>%15</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000" b="1" dirty="0">
                          <a:solidFill>
                            <a:srgbClr val="222222"/>
                          </a:solidFill>
                        </a:rPr>
                        <a:t>3.2</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000" dirty="0">
                          <a:solidFill>
                            <a:srgbClr val="222222"/>
                          </a:solidFill>
                        </a:rPr>
                        <a:t>Konum bilgisiyle arıza kaydının hatasız açılması</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222222"/>
                          </a:solidFill>
                        </a:rPr>
                        <a:t>%100</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222222"/>
                          </a:solidFill>
                        </a:rPr>
                        <a:t>%15</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256032">
                <a:tc>
                  <a:txBody>
                    <a:bodyPr/>
                    <a:lstStyle/>
                    <a:p>
                      <a:pPr marL="0" indent="0" algn="ctr">
                        <a:buNone/>
                      </a:pPr>
                      <a:r>
                        <a:rPr lang="en-US" sz="1000" b="1" dirty="0">
                          <a:solidFill>
                            <a:srgbClr val="222222"/>
                          </a:solidFill>
                        </a:rPr>
                        <a:t>4.</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22222"/>
                          </a:solidFill>
                        </a:rPr>
                        <a:t>Uygulamanın bulut sunucuya alınması ve 6. haftada canlıda olması</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rPr>
                        <a:t>%100</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rPr>
                        <a:t>%40</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457200" y="3383280"/>
            <a:ext cx="8229600" cy="274320"/>
          </a:xfrm>
          <a:prstGeom prst="rect">
            <a:avLst/>
          </a:prstGeom>
          <a:noFill/>
          <a:ln/>
        </p:spPr>
        <p:txBody>
          <a:bodyPr wrap="square" lIns="0" tIns="0" rIns="0" bIns="0" rtlCol="0" anchor="ctr"/>
          <a:lstStyle/>
          <a:p>
            <a:pPr marL="0" indent="0">
              <a:buNone/>
            </a:pPr>
            <a:r>
              <a:rPr lang="en-US" sz="1200" b="1" dirty="0">
                <a:solidFill>
                  <a:srgbClr val="222222"/>
                </a:solidFill>
              </a:rPr>
              <a:t>Tablo 3. Risk Yönetimi Tablosu</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4190271241"/>
              </p:ext>
            </p:extLst>
          </p:nvPr>
        </p:nvGraphicFramePr>
        <p:xfrm>
          <a:off x="457200" y="3657600"/>
          <a:ext cx="8229600" cy="1024128"/>
        </p:xfrm>
        <a:graphic>
          <a:graphicData uri="http://schemas.openxmlformats.org/drawingml/2006/table">
            <a:tbl>
              <a:tblPr/>
              <a:tblGrid>
                <a:gridCol w="40233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256032">
                <a:tc>
                  <a:txBody>
                    <a:bodyPr/>
                    <a:lstStyle/>
                    <a:p>
                      <a:pPr marL="0" indent="0" algn="l">
                        <a:buNone/>
                      </a:pPr>
                      <a:r>
                        <a:rPr lang="en-US" sz="1000" b="1" dirty="0">
                          <a:solidFill>
                            <a:srgbClr val="FFFFFF"/>
                          </a:solidFill>
                        </a:rPr>
                        <a:t>En Önemli Riskler</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tc>
                  <a:txBody>
                    <a:bodyPr/>
                    <a:lstStyle/>
                    <a:p>
                      <a:pPr marL="0" indent="0" algn="l">
                        <a:buNone/>
                      </a:pPr>
                      <a:r>
                        <a:rPr lang="en-US" sz="1000" b="1" dirty="0">
                          <a:solidFill>
                            <a:srgbClr val="FFFFFF"/>
                          </a:solidFill>
                        </a:rPr>
                        <a:t>Risk Yönetimi (B Planı)</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256032">
                <a:tc>
                  <a:txBody>
                    <a:bodyPr/>
                    <a:lstStyle/>
                    <a:p>
                      <a:pPr marL="0" indent="0" algn="l">
                        <a:buNone/>
                      </a:pPr>
                      <a:r>
                        <a:rPr lang="en-US" sz="1000" dirty="0">
                          <a:solidFill>
                            <a:srgbClr val="222222"/>
                          </a:solidFill>
                        </a:rPr>
                        <a:t>Canlıya alma (Deploy) sırasında çıkacak uyumsuzluklar</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22222"/>
                          </a:solidFill>
                        </a:rPr>
                        <a:t>5. haftada erken sunucu testleri yapılacaktır.</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000" dirty="0">
                          <a:solidFill>
                            <a:srgbClr val="222222"/>
                          </a:solidFill>
                        </a:rPr>
                        <a:t>Yüksek boyutlu fotoğrafların sistemi kilitlemesi</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000" dirty="0">
                          <a:solidFill>
                            <a:srgbClr val="222222"/>
                          </a:solidFill>
                        </a:rPr>
                        <a:t>Maksimum 2 MB yükleme ve sıkıştırma sınırı getirilecektir.</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256032">
                <a:tc>
                  <a:txBody>
                    <a:bodyPr/>
                    <a:lstStyle/>
                    <a:p>
                      <a:pPr marL="0" indent="0" algn="l">
                        <a:buNone/>
                      </a:pPr>
                      <a:r>
                        <a:rPr lang="en-US" sz="1000" dirty="0">
                          <a:solidFill>
                            <a:srgbClr val="222222"/>
                          </a:solidFill>
                        </a:rPr>
                        <a:t>Dışarıdan spam veya asılsız kayıt açılması</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22222"/>
                          </a:solidFill>
                        </a:rPr>
                        <a:t>Üyelik yalnızca "ko</a:t>
                      </a:r>
                      <a:r>
                        <a:rPr lang="tr-TR" sz="1000" dirty="0" err="1">
                          <a:solidFill>
                            <a:srgbClr val="222222"/>
                          </a:solidFill>
                        </a:rPr>
                        <a:t>caelisaglik</a:t>
                      </a:r>
                      <a:r>
                        <a:rPr lang="en-US" sz="1000" dirty="0">
                          <a:solidFill>
                            <a:srgbClr val="222222"/>
                          </a:solidFill>
                        </a:rPr>
                        <a:t>.edu.tr" uzantılı e-postalarla yapılacaktır.</a:t>
                      </a:r>
                      <a:endParaRPr lang="en-US" sz="1000" dirty="0"/>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defRPr>
            </a:lvl1pPr>
          </a:lstStyle>
          <a:p>
            <a:pPr algn="l"/>
            <a:fld id="{F7021451-1387-4CA6-816F-3879F97B5CBC}" type="slidenum">
              <a:rPr lang="en-US" b="0"/>
              <a:t>5</a:t>
            </a:fld>
            <a:endParaRPr lang="en-US"/>
          </a:p>
        </p:txBody>
      </p:sp>
    </p:spTree>
  </p:cSld>
  <p:clrMapOvr>
    <a:masterClrMapping/>
  </p:clrMapOvr>
</p:sld>
</file>

<file path=ppt/theme/theme1.xml><?xml version="1.0" encoding="utf-8"?>
<a:theme xmlns:a="http://schemas.openxmlformats.org/drawingml/2006/main" name="Sade Kurumsal">
  <a:themeElements>
    <a:clrScheme name="Sade Kurumsal">
      <a:dk1>
        <a:srgbClr val="222222"/>
      </a:dk1>
      <a:lt1>
        <a:srgbClr val="FFFFFF"/>
      </a:lt1>
      <a:dk2>
        <a:srgbClr val="595959"/>
      </a:dk2>
      <a:lt2>
        <a:srgbClr val="F2F2F2"/>
      </a:lt2>
      <a:accent1>
        <a:srgbClr val="1F3A5F"/>
      </a:accent1>
      <a:accent2>
        <a:srgbClr val="7F7F7F"/>
      </a:accent2>
      <a:accent3>
        <a:srgbClr val="A6A6A6"/>
      </a:accent3>
      <a:accent4>
        <a:srgbClr val="BFBFBF"/>
      </a:accent4>
      <a:accent5>
        <a:srgbClr val="D9D9D9"/>
      </a:accent5>
      <a:accent6>
        <a:srgbClr val="404040"/>
      </a:accent6>
      <a:hlink>
        <a:srgbClr val="1F3A5F"/>
      </a:hlink>
      <a:folHlink>
        <a:srgbClr val="595959"/>
      </a:folHlink>
    </a:clrScheme>
    <a:fontScheme name="Sade Kurums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TotalTime>
  <Words>679</Words>
  <Application>Microsoft Office PowerPoint</Application>
  <PresentationFormat>Ekran Gösterisi (16:9)</PresentationFormat>
  <Paragraphs>112</Paragraphs>
  <Slides>5</Slides>
  <Notes>5</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5</vt:i4>
      </vt:variant>
    </vt:vector>
  </HeadingPairs>
  <TitlesOfParts>
    <vt:vector size="8" baseType="lpstr">
      <vt:lpstr>Arial</vt:lpstr>
      <vt:lpstr>Calibri</vt:lpstr>
      <vt:lpstr>Sade Kurumsal</vt:lpstr>
      <vt:lpstr>PowerPoint Sunusu</vt:lpstr>
      <vt:lpstr>Problem Tanımı ve Teknoloji Analizi</vt:lpstr>
      <vt:lpstr>Gereksinim Analizi</vt:lpstr>
      <vt:lpstr>İş-Zaman Çizelgesi</vt:lpstr>
      <vt:lpstr>Başarı Ölçütleri ve Risk Yönetimi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Kampüs IT Destek ve Arıza Bildirim Sistemi</dc:title>
  <dc:subject>PptxGenJS Presentation</dc:subject>
  <dc:creator>PptxGenJS</dc:creator>
  <cp:lastModifiedBy>Hale ÖZ</cp:lastModifiedBy>
  <cp:revision>7</cp:revision>
  <dcterms:created xsi:type="dcterms:W3CDTF">2026-10-12T14:56:34Z</dcterms:created>
  <dcterms:modified xsi:type="dcterms:W3CDTF">2026-10-12T18:56:59Z</dcterms:modified>
</cp:coreProperties>
</file>