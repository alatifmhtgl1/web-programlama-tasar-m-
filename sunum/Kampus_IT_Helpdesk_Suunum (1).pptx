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62" y="4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3095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ERI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68680"/>
            <a:ext cx="8229600" cy="27432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400" b="1" dirty="0">
                <a:solidFill>
                  <a:srgbClr val="1F3A5F"/>
                </a:solidFill>
              </a:defRPr>
            </a:lvl1pPr>
          </a:lstStyle>
          <a:p>
            <a:pPr marL="0" indent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F3A5F"/>
          </a:solidFill>
          <a:ln/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F3A5F"/>
                </a:solidFill>
              </a:rPr>
              <a:t>Kampüs IT Destek ve Arıza Bildirim Sistemi (Helpdesk)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05740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595959"/>
                </a:solidFill>
              </a:rPr>
              <a:t>Rol Tabanlı, Veritabanı Destekli Web Tabanlı Arıza Takip (Ticket) Uygulaması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788920"/>
            <a:ext cx="182880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22222"/>
                </a:solidFill>
              </a:rPr>
              <a:t>Kocaeli Sağlık ve Teknoloji Üniversitesi (KOSTÜ)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</a:rPr>
              <a:t>Hazırlayanlar: </a:t>
            </a:r>
            <a:r>
              <a:rPr lang="tr-TR" sz="1300" dirty="0">
                <a:solidFill>
                  <a:srgbClr val="222222"/>
                </a:solidFill>
              </a:rPr>
              <a:t>Hale Özdaşçı - 240502020</a:t>
            </a:r>
            <a:r>
              <a:rPr lang="en-US" sz="1300" dirty="0">
                <a:solidFill>
                  <a:srgbClr val="222222"/>
                </a:solidFill>
              </a:rPr>
              <a:t> / </a:t>
            </a:r>
            <a:r>
              <a:rPr lang="tr-TR" sz="1300" dirty="0">
                <a:solidFill>
                  <a:srgbClr val="222222"/>
                </a:solidFill>
              </a:rPr>
              <a:t>Abdüllatif </a:t>
            </a:r>
            <a:r>
              <a:rPr lang="tr-TR" sz="1300" dirty="0" err="1">
                <a:solidFill>
                  <a:srgbClr val="222222"/>
                </a:solidFill>
              </a:rPr>
              <a:t>Mehtioğlu</a:t>
            </a:r>
            <a:r>
              <a:rPr lang="tr-TR" sz="1300" dirty="0">
                <a:solidFill>
                  <a:srgbClr val="222222"/>
                </a:solidFill>
              </a:rPr>
              <a:t> - 240502067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</a:rPr>
              <a:t>Ders: </a:t>
            </a:r>
            <a:r>
              <a:rPr lang="tr-TR" sz="1300" dirty="0">
                <a:solidFill>
                  <a:srgbClr val="222222"/>
                </a:solidFill>
              </a:rPr>
              <a:t>Web Programlama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</a:rPr>
              <a:t>Danışman: </a:t>
            </a:r>
            <a:r>
              <a:rPr lang="tr-TR" sz="1300" dirty="0">
                <a:solidFill>
                  <a:srgbClr val="222222"/>
                </a:solidFill>
              </a:rPr>
              <a:t>Dr. Öğr. Üyesi Fulya AKDENİZ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</a:rPr>
              <a:t>Tarih: </a:t>
            </a:r>
            <a:r>
              <a:rPr lang="tr-TR" sz="1300" dirty="0">
                <a:solidFill>
                  <a:srgbClr val="222222"/>
                </a:solidFill>
              </a:rPr>
              <a:t>13.10.2026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A5F"/>
                </a:solidFill>
              </a:rPr>
              <a:t>Problem Tanımı ve Teknoloji Analizi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</a:rPr>
              <a:t>Problem ve Çözüm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75488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</a:rPr>
              <a:t>Teknoloji Tercihleri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Laboratuvar, projeksiyon ve Wi-Fi arızaları WhatsApp veya sözlü iletilmektedir.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Bu durum takibi zorlaştırmakta ve iletişim kopukluğu yaratmaktadır.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</a:rPr>
              <a:t>Çözüm: Fotoğraflı ve durum takipli arıza kayıt (Ticket) </a:t>
            </a:r>
            <a:r>
              <a:rPr lang="en-US" sz="1400" dirty="0" err="1">
                <a:solidFill>
                  <a:srgbClr val="222222"/>
                </a:solidFill>
              </a:rPr>
              <a:t>sistemi</a:t>
            </a:r>
            <a:r>
              <a:rPr lang="en-US" sz="1400" dirty="0">
                <a:solidFill>
                  <a:srgbClr val="222222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146304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22222"/>
                </a:solidFill>
              </a:rPr>
              <a:t>React (Vite): </a:t>
            </a:r>
            <a:r>
              <a:rPr lang="en-US" sz="1400" dirty="0">
                <a:solidFill>
                  <a:srgbClr val="222222"/>
                </a:solidFill>
              </a:rPr>
              <a:t>Hızlı ve etkileşimli kullanıcı arayüzü.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22222"/>
                </a:solidFill>
              </a:rPr>
              <a:t>C# .NET Core Web API: </a:t>
            </a:r>
            <a:r>
              <a:rPr lang="en-US" sz="1400" dirty="0">
                <a:solidFill>
                  <a:srgbClr val="222222"/>
                </a:solidFill>
              </a:rPr>
              <a:t>Güvenli ve katmanlı API altyapısı.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22222"/>
                </a:solidFill>
              </a:rPr>
              <a:t>MSSQL Server ve EF Core: </a:t>
            </a:r>
            <a:r>
              <a:rPr lang="en-US" sz="1400" dirty="0">
                <a:solidFill>
                  <a:srgbClr val="222222"/>
                </a:solidFill>
              </a:rPr>
              <a:t>Arıza ve kullanıcı verilerinin ilişkisel yönetimi.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22222"/>
                </a:solidFill>
              </a:rPr>
              <a:t>ASP.NET Core Identity: </a:t>
            </a:r>
            <a:r>
              <a:rPr lang="en-US" sz="1400" dirty="0">
                <a:solidFill>
                  <a:srgbClr val="222222"/>
                </a:solidFill>
              </a:rPr>
              <a:t>Hazır şifreleme (Hash) ve rol bazlı yetkilendirme.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A5F"/>
                </a:solidFill>
              </a:rPr>
              <a:t>Gereksinim Analizi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</a:rPr>
              <a:t>Fonksiyonel Gereksinimler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3383280" y="1097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</a:rPr>
              <a:t>Fonksiyonel Olmayan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126480" y="1097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A5F"/>
                </a:solidFill>
              </a:rPr>
              <a:t>Zorunlu Ekstra Özellikler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2743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22222"/>
                </a:solidFill>
              </a:rPr>
              <a:t>Bilgi İşlem Personeli (Süper Admin)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</a:rPr>
              <a:t>Arıza kayıtlarını yönetir.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</a:rPr>
              <a:t>Durumu Beklemede / İşleme Alındı / Çözüldü olarak günceller.</a:t>
            </a:r>
            <a:endParaRPr lang="en-US" sz="115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150" b="1" dirty="0">
                <a:solidFill>
                  <a:srgbClr val="222222"/>
                </a:solidFill>
              </a:rPr>
              <a:t>Öğrenci ve Akademisyen (Kullanıcı)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</a:rPr>
              <a:t>Sisteme kayıt olur, oturum açar.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</a:rPr>
              <a:t>Konum ve fotoğraf ekleyerek arıza kaydı oluşturur.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</a:rPr>
              <a:t>Kendi kayıtlarının durumunu takip eder.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146304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</a:rPr>
              <a:t>Güvenlik: </a:t>
            </a:r>
            <a:r>
              <a:rPr lang="en-US" sz="1150" dirty="0">
                <a:solidFill>
                  <a:srgbClr val="222222"/>
                </a:solidFill>
              </a:rPr>
              <a:t>Hash'li şifre, rol bazlı erişim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</a:rPr>
              <a:t>Performans: </a:t>
            </a:r>
            <a:r>
              <a:rPr lang="en-US" sz="1150" dirty="0">
                <a:solidFill>
                  <a:srgbClr val="222222"/>
                </a:solidFill>
              </a:rPr>
              <a:t>Görsel boyutu en fazla 2 MB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</a:rPr>
              <a:t>Erişilebilirlik: </a:t>
            </a:r>
            <a:r>
              <a:rPr lang="en-US" sz="1150" dirty="0">
                <a:solidFill>
                  <a:srgbClr val="222222"/>
                </a:solidFill>
              </a:rPr>
              <a:t>Bulutta canlı, tarayıcıdan erişim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</a:rPr>
              <a:t>Kullanılabilirlik: </a:t>
            </a:r>
            <a:r>
              <a:rPr lang="en-US" sz="1150" dirty="0">
                <a:solidFill>
                  <a:srgbClr val="222222"/>
                </a:solidFill>
              </a:rPr>
              <a:t>Sade ve hızlı arayüz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</a:rPr>
              <a:t>Veri bütünlüğü: </a:t>
            </a:r>
            <a:r>
              <a:rPr lang="en-US" sz="1150" dirty="0">
                <a:solidFill>
                  <a:srgbClr val="222222"/>
                </a:solidFill>
              </a:rPr>
              <a:t>İlişkisel veri yapısı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463040"/>
            <a:ext cx="2560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222222"/>
                </a:solidFill>
              </a:rPr>
              <a:t>Rol Tabanlı Yetkilendirme (Admin / Kullanıcı)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222222"/>
                </a:solidFill>
              </a:rPr>
              <a:t>Görsel Yükleme (arızalı cihaz fotoğrafı)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Font typeface="+mj-lt"/>
              <a:buAutoNum type="arabicPeriod"/>
            </a:pPr>
            <a:r>
              <a:rPr lang="en-US" sz="1150" dirty="0">
                <a:solidFill>
                  <a:srgbClr val="222222"/>
                </a:solidFill>
              </a:rPr>
              <a:t>Raporlama/Grafik: en çok arıza veren laboratuvarlar, çözülen/bekleyen arıza oranları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A5F"/>
                </a:solidFill>
              </a:rPr>
              <a:t>İş-Zaman Çizelgesi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22977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2222"/>
                </a:solidFill>
              </a:rPr>
              <a:t>Tablo 1. İş-Zaman Çizelgesi (12 Haftalık Süreç)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739815"/>
              </p:ext>
            </p:extLst>
          </p:nvPr>
        </p:nvGraphicFramePr>
        <p:xfrm>
          <a:off x="457200" y="1205405"/>
          <a:ext cx="5721346" cy="3629016"/>
        </p:xfrm>
        <a:graphic>
          <a:graphicData uri="http://schemas.openxmlformats.org/drawingml/2006/table">
            <a:tbl>
              <a:tblPr/>
              <a:tblGrid>
                <a:gridCol w="4656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2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610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27572">
                <a:tc row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İş Paketi No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İş Paketi Adı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1. Ay (Ekim)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2. Ay (Kasım)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3. Ay (Aralık)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833">
                <a:tc v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tr-T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H1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H2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H3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H4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H5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H6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H7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H8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H9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H10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H11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H12</a:t>
                      </a:r>
                      <a:endParaRPr lang="en-US" sz="9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5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WP1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GitHub kurulumu, gereksinim analizi ve sunum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5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WP2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.NET Core Backend, SQL veritabanı ve Identity ile rol yönetimi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5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WP3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React arayüzü, görsel yükleme ve IT raporlama grafikleri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58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WP4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Bulut sunucuya alım (Deploy) ve canlı yayın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1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</a:rPr>
                        <a:t>WP5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Karşılıklı test (Bug Hunting), 100 hatanın PR ile kapatılması ve final teslimi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X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11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705915"/>
                  </a:ext>
                </a:extLst>
              </a:tr>
              <a:tr h="3911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8167026"/>
                  </a:ext>
                </a:extLst>
              </a:tr>
              <a:tr h="3911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/>
                    </a:p>
                  </a:txBody>
                  <a:tcPr marL="54864" marR="54864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710763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A5F"/>
                </a:solidFill>
              </a:rPr>
              <a:t>Başarı Ölçütleri ve Risk Yönetimi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Tablo 2. Başarı Ölçütleri Tablosu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381669"/>
              </p:ext>
            </p:extLst>
          </p:nvPr>
        </p:nvGraphicFramePr>
        <p:xfrm>
          <a:off x="457200" y="1280160"/>
          <a:ext cx="8229600" cy="16916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İP No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İş Paketi Hedefi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Başarı Ölçütü (%, sayı, ifade, vb.)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Projenin Başarısındaki Önemi (%)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Admin (IT) rolünün arıza yönetimi ve durum güncelleme yetkileri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%100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%15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Kullanıcı rolünün kayıt, oturum ve kendi kayıtlarını izleme yetkileri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%100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%15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Arıza fotoğrafının sisteme hatasız yüklenmesi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%100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%15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Konum bilgisiyle arıza kaydının hatasız açılması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%100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%15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</a:rPr>
                        <a:t>4.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Uygulamanın bulut sunucuya alınması ve 6. haftada canlıda olması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%100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%40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2222"/>
                </a:solidFill>
              </a:rPr>
              <a:t>Tablo 3. Risk Yönetimi Tablosu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8229600" cy="1024128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 Önemli Riskler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Risk Yönetimi (B Planı)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Canlıya alma (Deploy) sırasında çıkacak uyumsuzluklar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5. haftada erken sunucu testleri yapılacaktır.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Yüksek boyutlu fotoğrafların sistemi kilitlemesi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Maksimum 2 MB yükleme ve sıkıştırma sınırı getirilecektir.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Dışarıdan spam veya asılsız kayıt açılması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Üyelik yalnızca "kostu.edu.tr" uzantılı e-postalarla yapılacaktır.</a:t>
                      </a:r>
                      <a:endParaRPr lang="en-US" sz="1000" dirty="0"/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de Kurumsal">
  <a:themeElements>
    <a:clrScheme name="Sade Kurumsal">
      <a:dk1>
        <a:srgbClr val="222222"/>
      </a:dk1>
      <a:lt1>
        <a:srgbClr val="FFFFFF"/>
      </a:lt1>
      <a:dk2>
        <a:srgbClr val="595959"/>
      </a:dk2>
      <a:lt2>
        <a:srgbClr val="F2F2F2"/>
      </a:lt2>
      <a:accent1>
        <a:srgbClr val="1F3A5F"/>
      </a:accent1>
      <a:accent2>
        <a:srgbClr val="7F7F7F"/>
      </a:accent2>
      <a:accent3>
        <a:srgbClr val="A6A6A6"/>
      </a:accent3>
      <a:accent4>
        <a:srgbClr val="BFBFBF"/>
      </a:accent4>
      <a:accent5>
        <a:srgbClr val="D9D9D9"/>
      </a:accent5>
      <a:accent6>
        <a:srgbClr val="404040"/>
      </a:accent6>
      <a:hlink>
        <a:srgbClr val="1F3A5F"/>
      </a:hlink>
      <a:folHlink>
        <a:srgbClr val="595959"/>
      </a:folHlink>
    </a:clrScheme>
    <a:fontScheme name="Sade Kurums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560</Words>
  <Application>Microsoft Office PowerPoint</Application>
  <PresentationFormat>Ekran Gösterisi (16:9)</PresentationFormat>
  <Paragraphs>119</Paragraphs>
  <Slides>5</Slides>
  <Notes>5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</vt:i4>
      </vt:variant>
    </vt:vector>
  </HeadingPairs>
  <TitlesOfParts>
    <vt:vector size="8" baseType="lpstr">
      <vt:lpstr>Arial</vt:lpstr>
      <vt:lpstr>Calibri</vt:lpstr>
      <vt:lpstr>Sade Kurumsal</vt:lpstr>
      <vt:lpstr>PowerPoint Sunusu</vt:lpstr>
      <vt:lpstr>Problem Tanımı ve Teknoloji Analizi</vt:lpstr>
      <vt:lpstr>Gereksinim Analizi</vt:lpstr>
      <vt:lpstr>İş-Zaman Çizelgesi</vt:lpstr>
      <vt:lpstr>Başarı Ölçütleri ve Risk Yönetimi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Kampüs IT Destek ve Arıza Bildirim Sistemi</dc:title>
  <dc:subject>PptxGenJS Presentation</dc:subject>
  <dc:creator>PptxGenJS</dc:creator>
  <cp:lastModifiedBy>Hale ÖZ</cp:lastModifiedBy>
  <cp:revision>4</cp:revision>
  <dcterms:created xsi:type="dcterms:W3CDTF">2026-10-12T14:56:34Z</dcterms:created>
  <dcterms:modified xsi:type="dcterms:W3CDTF">2026-10-12T15:12:54Z</dcterms:modified>
</cp:coreProperties>
</file>