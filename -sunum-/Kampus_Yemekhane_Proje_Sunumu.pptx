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51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411480"/>
            <a:ext cx="2103120" cy="2103120"/>
          </a:xfrm>
          <a:prstGeom prst="ellipse">
            <a:avLst/>
          </a:prstGeom>
          <a:solidFill>
            <a:srgbClr val="3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2057400"/>
            <a:ext cx="1280160" cy="1280160"/>
          </a:xfrm>
          <a:prstGeom prst="ellipse">
            <a:avLst/>
          </a:prstGeom>
          <a:solidFill>
            <a:srgbClr val="28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3931920"/>
            <a:ext cx="1828800" cy="1828800"/>
          </a:xfrm>
          <a:prstGeom prst="ellipse">
            <a:avLst/>
          </a:prstGeom>
          <a:solidFill>
            <a:srgbClr val="223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0" y="1828800"/>
            <a:ext cx="2103120" cy="21031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82912" y="2176272"/>
            <a:ext cx="1417320" cy="1417320"/>
          </a:xfrm>
          <a:prstGeom prst="ellipse">
            <a:avLst/>
          </a:prstGeom>
          <a:solidFill>
            <a:srgbClr val="E0F5F1"/>
          </a:solidFill>
          <a:ln w="25400">
            <a:solidFill>
              <a:srgbClr val="28A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66960" y="2514600"/>
            <a:ext cx="256032" cy="256032"/>
          </a:xfrm>
          <a:prstGeom prst="ellipse">
            <a:avLst/>
          </a:prstGeom>
          <a:solidFill>
            <a:srgbClr val="EEA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78440" y="2834640"/>
            <a:ext cx="256032" cy="256032"/>
          </a:xfrm>
          <a:prstGeom prst="ellipse">
            <a:avLst/>
          </a:prstGeom>
          <a:solidFill>
            <a:srgbClr val="28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29800" y="3154680"/>
            <a:ext cx="256032" cy="256032"/>
          </a:xfrm>
          <a:prstGeom prst="ellipse">
            <a:avLst/>
          </a:prstGeom>
          <a:solidFill>
            <a:srgbClr val="3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658368"/>
            <a:ext cx="7040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8A496"/>
                </a:solidFill>
                <a:latin typeface="Aptos"/>
              </a:rPr>
              <a:t>WEB PROGRAMLAMA • PROJE TANITIMI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325880"/>
            <a:ext cx="758952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Kampüs Yemekhane
ve Öğrenci Geri Bildirim Sistemi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43611"/>
            <a:ext cx="67665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 err="1">
                <a:solidFill>
                  <a:srgbClr val="CFDCED"/>
                </a:solidFill>
                <a:latin typeface="Aptos"/>
              </a:rPr>
              <a:t>Menü</a:t>
            </a:r>
            <a:r>
              <a:rPr sz="1600" b="0" dirty="0">
                <a:solidFill>
                  <a:srgbClr val="CFDCE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CFDCED"/>
                </a:solidFill>
                <a:latin typeface="Aptos"/>
              </a:rPr>
              <a:t>yönetimi</a:t>
            </a:r>
            <a:r>
              <a:rPr sz="1600" b="0" dirty="0">
                <a:solidFill>
                  <a:srgbClr val="CFDCED"/>
                </a:solidFill>
                <a:latin typeface="Aptos"/>
              </a:rPr>
              <a:t> • </a:t>
            </a:r>
            <a:r>
              <a:rPr sz="1600" b="0" dirty="0" err="1">
                <a:solidFill>
                  <a:srgbClr val="CFDCED"/>
                </a:solidFill>
                <a:latin typeface="Aptos"/>
              </a:rPr>
              <a:t>Öğrenci</a:t>
            </a:r>
            <a:r>
              <a:rPr sz="1600" b="0" dirty="0">
                <a:solidFill>
                  <a:srgbClr val="CFDCE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CFDCED"/>
                </a:solidFill>
                <a:latin typeface="Aptos"/>
              </a:rPr>
              <a:t>değerlendirmeleri</a:t>
            </a:r>
            <a:r>
              <a:rPr sz="1600" b="0" dirty="0">
                <a:solidFill>
                  <a:srgbClr val="CFDCED"/>
                </a:solidFill>
                <a:latin typeface="Aptos"/>
              </a:rPr>
              <a:t> • </a:t>
            </a:r>
            <a:r>
              <a:rPr sz="1600" b="0" dirty="0" err="1">
                <a:solidFill>
                  <a:srgbClr val="CFDCED"/>
                </a:solidFill>
                <a:latin typeface="Aptos"/>
              </a:rPr>
              <a:t>Memnuniyet</a:t>
            </a:r>
            <a:r>
              <a:rPr sz="1600" b="0" dirty="0">
                <a:solidFill>
                  <a:srgbClr val="CFDCE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CFDCED"/>
                </a:solidFill>
                <a:latin typeface="Aptos"/>
              </a:rPr>
              <a:t>analizi</a:t>
            </a:r>
            <a:endParaRPr sz="1600" b="0" dirty="0">
              <a:solidFill>
                <a:srgbClr val="CFDCE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4572000"/>
            <a:ext cx="6675120" cy="1234440"/>
          </a:xfrm>
          <a:prstGeom prst="roundRect">
            <a:avLst/>
          </a:prstGeom>
          <a:solidFill>
            <a:srgbClr val="1D304B"/>
          </a:solidFill>
          <a:ln>
            <a:solidFill>
              <a:srgbClr val="39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736592"/>
            <a:ext cx="6217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A496"/>
                </a:solidFill>
                <a:latin typeface="Aptos"/>
              </a:rPr>
              <a:t>PROJE EKİBİ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47488"/>
            <a:ext cx="621792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Aptos"/>
              </a:rPr>
              <a:t>1. </a:t>
            </a:r>
            <a:r>
              <a:rPr lang="tr-TR" sz="1400" dirty="0">
                <a:solidFill>
                  <a:schemeClr val="bg1"/>
                </a:solidFill>
              </a:rPr>
              <a:t>Abdüllatif Mehtioğlu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tr-TR" sz="1400" b="0" dirty="0">
                <a:solidFill>
                  <a:srgbClr val="FFFFFF"/>
                </a:solidFill>
                <a:latin typeface="Aptos"/>
              </a:rPr>
              <a:t>240502067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
2. </a:t>
            </a:r>
            <a:r>
              <a:rPr lang="tr-TR" sz="1400" dirty="0">
                <a:solidFill>
                  <a:schemeClr val="bg1"/>
                </a:solidFill>
              </a:rPr>
              <a:t>Hale Özdaşçı 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tr-TR" sz="1400" dirty="0">
                <a:solidFill>
                  <a:schemeClr val="bg1"/>
                </a:solidFill>
              </a:rPr>
              <a:t>240502020</a:t>
            </a:r>
            <a:endParaRPr sz="14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" y="6263640"/>
            <a:ext cx="6400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8C7DA"/>
                </a:solidFill>
                <a:latin typeface="Aptos"/>
              </a:rPr>
              <a:t>Teknoloji: React • CSS • ASP.NET Core Web API • MSSQL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CB4452FE-FD8A-29DB-C461-B8A064B4FE06}"/>
              </a:ext>
            </a:extLst>
          </p:cNvPr>
          <p:cNvSpPr txBox="1"/>
          <p:nvPr/>
        </p:nvSpPr>
        <p:spPr>
          <a:xfrm>
            <a:off x="749808" y="3765987"/>
            <a:ext cx="6096000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Ders: </a:t>
            </a:r>
            <a:r>
              <a:rPr lang="tr-TR" sz="1800" dirty="0">
                <a:solidFill>
                  <a:schemeClr val="bg1"/>
                </a:solidFill>
              </a:rPr>
              <a:t>Web Programlama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 err="1">
                <a:solidFill>
                  <a:schemeClr val="bg1"/>
                </a:solidFill>
              </a:rPr>
              <a:t>Danışman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tr-TR" sz="1800" dirty="0">
                <a:solidFill>
                  <a:schemeClr val="bg1"/>
                </a:solidFill>
              </a:rPr>
              <a:t>Dr. Öğr. Üyesi Fulya AKDENİZ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8A496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10607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4233A"/>
                </a:solidFill>
                <a:latin typeface="Aptos"/>
              </a:rPr>
              <a:t>Problem Tanımı ve Teknoloji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694944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A7E"/>
                </a:solidFill>
                <a:latin typeface="Aptos"/>
              </a:rPr>
              <a:t>Hedef: Menü bilgisini ve öğrenci geri bildirimlerini tek, yönetilebilir bir sistemde birleştirmek.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3657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08176"/>
            <a:ext cx="54864" cy="1837943"/>
          </a:xfrm>
          <a:prstGeom prst="rect">
            <a:avLst/>
          </a:prstGeom>
          <a:solidFill>
            <a:srgbClr val="28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26464"/>
            <a:ext cx="3337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33A"/>
                </a:solidFill>
                <a:latin typeface="Aptos"/>
              </a:rPr>
              <a:t>Çözülen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9655"/>
            <a:ext cx="3337560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Öğrencilerin güncel menüye kolay erişmesi</a:t>
            </a:r>
          </a:p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Yemekler için puan ve yorumların toplanması</a:t>
            </a:r>
          </a:p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Yönetimin memnuniyet verilerini inceleyebilmesi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566160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3675887"/>
            <a:ext cx="54864" cy="2066543"/>
          </a:xfrm>
          <a:prstGeom prst="rect">
            <a:avLst/>
          </a:prstGeom>
          <a:solidFill>
            <a:srgbClr val="3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694176"/>
            <a:ext cx="3337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33A"/>
                </a:solidFill>
                <a:latin typeface="Aptos"/>
              </a:rPr>
              <a:t>Hedef kullanıcılar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87368"/>
            <a:ext cx="3337560" cy="1673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Öğrenci: menü görüntüleme, puanlama, yorum</a:t>
            </a:r>
          </a:p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Yemekhane yöneticisi: menü ve geri bildirim yönetimi</a:t>
            </a:r>
          </a:p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Süper admin: kullanıcı ve rol yönetimi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298448"/>
            <a:ext cx="3337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408176"/>
            <a:ext cx="54864" cy="1837943"/>
          </a:xfrm>
          <a:prstGeom prst="rect">
            <a:avLst/>
          </a:prstGeom>
          <a:solidFill>
            <a:srgbClr val="3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1426464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14233A"/>
                </a:solidFill>
                <a:latin typeface="Aptos"/>
              </a:rPr>
              <a:t>Frontend — React + CSS</a:t>
            </a:r>
            <a:r>
              <a:rPr lang="tr-TR" sz="1500" b="1" dirty="0">
                <a:solidFill>
                  <a:srgbClr val="14233A"/>
                </a:solidFill>
                <a:latin typeface="Aptos"/>
              </a:rPr>
              <a:t> + </a:t>
            </a:r>
            <a:r>
              <a:rPr lang="tr-TR" sz="1500" b="1">
                <a:solidFill>
                  <a:srgbClr val="14233A"/>
                </a:solidFill>
                <a:latin typeface="Aptos"/>
              </a:rPr>
              <a:t>Vite</a:t>
            </a:r>
            <a:endParaRPr sz="1500" b="1">
              <a:solidFill>
                <a:srgbClr val="14233A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9160" y="1819655"/>
            <a:ext cx="3017520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Etkileşimli ve bileşen tabanlı arayüz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Bootstrap kullanmadan özel tasarım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Menü kartları, puanlama ve yönetim ekranları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298448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5008" y="1408176"/>
            <a:ext cx="54864" cy="1837943"/>
          </a:xfrm>
          <a:prstGeom prst="rect">
            <a:avLst/>
          </a:prstGeom>
          <a:solidFill>
            <a:srgbClr val="28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1426464"/>
            <a:ext cx="32004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33A"/>
                </a:solidFill>
                <a:latin typeface="Aptos"/>
              </a:rPr>
              <a:t>Backend — C# + ASP.NET Core Web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1819655"/>
            <a:ext cx="3200400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İş kuralları ve API uç noktaları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Kimlik doğrulama ve rol kontrolü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React ile JSON üzerinden iletişim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566160"/>
            <a:ext cx="3337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675887"/>
            <a:ext cx="54864" cy="2066543"/>
          </a:xfrm>
          <a:prstGeom prst="rect">
            <a:avLst/>
          </a:prstGeom>
          <a:solidFill>
            <a:srgbClr val="EEA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60" y="3694176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33A"/>
                </a:solidFill>
                <a:latin typeface="Aptos"/>
              </a:rPr>
              <a:t>Veritabanı — MSSQL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087368"/>
            <a:ext cx="3017520" cy="1673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Kullanıcı, yemek, menü ve geri bildirim kayıtları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İlişkisel yapı ve veri bütünlüğü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Puan ortalaması ve raporlama sorguları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3566160"/>
            <a:ext cx="3520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65008" y="3675887"/>
            <a:ext cx="54864" cy="2066543"/>
          </a:xfrm>
          <a:prstGeom prst="rect">
            <a:avLst/>
          </a:prstGeom>
          <a:solidFill>
            <a:srgbClr val="28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694176"/>
            <a:ext cx="32004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33A"/>
                </a:solidFill>
                <a:latin typeface="Aptos"/>
              </a:rPr>
              <a:t>Veri erişimi — EF 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087368"/>
            <a:ext cx="3200400" cy="1673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C# nesneleri ile tablolar arasında eşleme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CRUD işlemlerini kolaylaştırma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Veri erişim kodunu daha düzenli tutma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6A7E"/>
                </a:solidFill>
                <a:latin typeface="Aptos"/>
              </a:rPr>
              <a:t>KAMPÜS YEMEKHANE VE ÖĞRENCİ GERİ BİLDİRİM SİSTEMİ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E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8A496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10607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4233A"/>
                </a:solidFill>
                <a:latin typeface="Aptos"/>
              </a:rPr>
              <a:t>Gereksinim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694944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A7E"/>
                </a:solidFill>
                <a:latin typeface="Aptos"/>
              </a:rPr>
              <a:t>Fonksiyonel gereksinimler sistemin ne yapacağını; fonksiyonel olmayanlar nasıl çalışması gerektiğini tanımlar.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35607"/>
            <a:ext cx="54864" cy="4306824"/>
          </a:xfrm>
          <a:prstGeom prst="rect">
            <a:avLst/>
          </a:prstGeom>
          <a:solidFill>
            <a:srgbClr val="3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53895"/>
            <a:ext cx="5029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33A"/>
                </a:solidFill>
                <a:latin typeface="Aptos"/>
              </a:rPr>
              <a:t>Fonksiyonel gereksinimler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47088"/>
            <a:ext cx="5029200" cy="39136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Kullanıcı girişi ve role göre erişim</a:t>
            </a:r>
          </a:p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Günlük/haftalık menüyü görüntüleme</a:t>
            </a:r>
          </a:p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Yetkili yöneticinin yemek ve menü eklemesi, düzenlemesi, silmesi</a:t>
            </a:r>
          </a:p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Öğrencinin yemeklere 1–5 puan vermesi ve yorum yazması</a:t>
            </a:r>
          </a:p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Kullanıcının kendi geri bildirimlerini görüntülemesi</a:t>
            </a:r>
          </a:p>
          <a:p>
            <a:pPr>
              <a:spcAft>
                <a:spcPts val="400"/>
              </a:spcAft>
              <a:defRPr sz="1300">
                <a:solidFill>
                  <a:srgbClr val="273242"/>
                </a:solidFill>
                <a:latin typeface="Aptos"/>
              </a:defRPr>
            </a:pPr>
            <a:r>
              <a:t>•  Yöneticinin geri bildirimleri ve puan ortalamalarını incelemesi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35607"/>
            <a:ext cx="54864" cy="4306824"/>
          </a:xfrm>
          <a:prstGeom prst="rect">
            <a:avLst/>
          </a:prstGeom>
          <a:solidFill>
            <a:srgbClr val="28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53895"/>
            <a:ext cx="5029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33A"/>
                </a:solidFill>
                <a:latin typeface="Aptos"/>
              </a:rPr>
              <a:t>Fonksiyonel olmayan gereksinimler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5029200" cy="39136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Güvenlik: şifreler düz metin tutulmamalı; yetki backend'de kontrol edilmeli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Kullanılabilirlik: sade, anlaşılır ve mobil uyumlu arayüz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Performans: menü ve geri bildirim ekranları makul sürede açılmalı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Veri bütünlüğü: zorunlu alanlar ve puan aralığı doğrulanmalı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Bakım yapılabilirlik: frontend, backend ve veritabanı sorumlulukları ayrılmalı</a:t>
            </a:r>
          </a:p>
          <a:p>
            <a:pPr>
              <a:spcAft>
                <a:spcPts val="400"/>
              </a:spcAft>
              <a:defRPr sz="1200">
                <a:solidFill>
                  <a:srgbClr val="273242"/>
                </a:solidFill>
                <a:latin typeface="Aptos"/>
              </a:defRPr>
            </a:pPr>
            <a:r>
              <a:t>•  Test edilebilirlik: hatalar tekrarlanabilir adımlarla raporlanmalı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98932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6A7E"/>
                </a:solidFill>
                <a:latin typeface="Aptos"/>
              </a:rPr>
              <a:t>Kapsam notu: İlk sürümde ödeme, yemekhane kartı entegrasyonu ve canlı stok takibi kapsam dışıdır.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6A7E"/>
                </a:solidFill>
                <a:latin typeface="Aptos"/>
              </a:rPr>
              <a:t>KAMPÜS YEMEKHANE VE ÖĞRENCİ GERİ BİLDİRİM SİSTEMİ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E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8A496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10607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4233A"/>
                </a:solidFill>
                <a:latin typeface="Aptos"/>
              </a:rPr>
              <a:t>Proje İş Planı — 12 Haftalık Zaman Çizelgesi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694944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A7E"/>
                </a:solidFill>
                <a:latin typeface="Aptos"/>
              </a:rPr>
              <a:t>Toplam 5 iş paketi; görevler iki kişilik ekip arasında paylaşılacak, entegrasyon ve testler birlikte yürütülecek.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27432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33A"/>
                </a:solidFill>
                <a:latin typeface="Aptos"/>
              </a:rPr>
              <a:t>İŞ PAKETİ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928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2664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8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4504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9608" y="1417320"/>
            <a:ext cx="6583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1911096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73242"/>
                </a:solidFill>
                <a:latin typeface="Aptos"/>
              </a:rPr>
              <a:t>1. Analiz ve tasarım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5848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14215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72583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0952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89319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47688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06056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64423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22792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81159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39528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597896" y="1901952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374136" y="1929384"/>
            <a:ext cx="1225295" cy="329184"/>
          </a:xfrm>
          <a:prstGeom prst="roundRect">
            <a:avLst/>
          </a:prstGeom>
          <a:solidFill>
            <a:srgbClr val="3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2194560"/>
            <a:ext cx="2651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A7E"/>
                </a:solidFill>
                <a:latin typeface="Aptos"/>
              </a:rPr>
              <a:t>Gereksinimler, ekran taslakları, veri modeli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2532888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73242"/>
                </a:solidFill>
                <a:latin typeface="Aptos"/>
              </a:rPr>
              <a:t>2. Veritabanı ve API temeli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55848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014215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672583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330952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89319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647688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06056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964423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622792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281159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939528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597896" y="2523744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032504" y="2551176"/>
            <a:ext cx="1883664" cy="329184"/>
          </a:xfrm>
          <a:prstGeom prst="roundRect">
            <a:avLst/>
          </a:prstGeom>
          <a:solidFill>
            <a:srgbClr val="28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2816352"/>
            <a:ext cx="2651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A7E"/>
                </a:solidFill>
                <a:latin typeface="Aptos"/>
              </a:rPr>
              <a:t>Tablolar, ilişkiler, API yapısı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3154680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73242"/>
                </a:solidFill>
                <a:latin typeface="Aptos"/>
              </a:rPr>
              <a:t>3. Menü yönetimi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55848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014215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672583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330952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989319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647688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306056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64423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622792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281159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939528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597896" y="3145536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349240" y="3172968"/>
            <a:ext cx="1883664" cy="329184"/>
          </a:xfrm>
          <a:prstGeom prst="roundRect">
            <a:avLst/>
          </a:prstGeom>
          <a:solidFill>
            <a:srgbClr val="EEA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4360" y="3438144"/>
            <a:ext cx="2651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A7E"/>
                </a:solidFill>
                <a:latin typeface="Aptos"/>
              </a:rPr>
              <a:t>Menü/yemek CRUD işlemleri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3776472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73242"/>
                </a:solidFill>
                <a:latin typeface="Aptos"/>
              </a:rPr>
              <a:t>4. Kullanıcı ve geri bildirim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55848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014215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672583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330952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89319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47688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306056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964423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622792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281159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939528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597896" y="3767328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665976" y="3794760"/>
            <a:ext cx="2542032" cy="329184"/>
          </a:xfrm>
          <a:prstGeom prst="roundRect">
            <a:avLst/>
          </a:prstGeom>
          <a:solidFill>
            <a:srgbClr val="3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4059936"/>
            <a:ext cx="2651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A7E"/>
                </a:solidFill>
                <a:latin typeface="Aptos"/>
              </a:rPr>
              <a:t>Giriş, roller, puanlama, yorumlar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360" y="4398264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73242"/>
                </a:solidFill>
                <a:latin typeface="Aptos"/>
              </a:rPr>
              <a:t>5. Raporlama, test ve teslim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55848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014215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672583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330952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989319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647688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306056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964423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622792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281159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939528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597896" y="4389120"/>
            <a:ext cx="6126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641080" y="4416552"/>
            <a:ext cx="2542032" cy="329184"/>
          </a:xfrm>
          <a:prstGeom prst="roundRect">
            <a:avLst/>
          </a:prstGeom>
          <a:solidFill>
            <a:srgbClr val="28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4360" y="4681728"/>
            <a:ext cx="2651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A7E"/>
                </a:solidFill>
                <a:latin typeface="Aptos"/>
              </a:rPr>
              <a:t>İstatistikler, hata raporları, sunum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5897880"/>
            <a:ext cx="10881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A7E"/>
                </a:solidFill>
                <a:latin typeface="Aptos"/>
              </a:rPr>
              <a:t>Kilometre taşları: Hafta 2 — tasarım onayı  •  Hafta 6 — temel akışlar  •  Hafta 9 — entegrasyon  •  Hafta 12 — test ve teslim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653796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6A7E"/>
                </a:solidFill>
                <a:latin typeface="Aptos"/>
              </a:rPr>
              <a:t>KAMPÜS YEMEKHANE VE ÖĞRENCİ GERİ BİLDİRİM SİSTEMİ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E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8A496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10607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4233A"/>
                </a:solidFill>
                <a:latin typeface="Aptos"/>
              </a:rPr>
              <a:t>Başarı Ölçütleri ve Risk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694944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A7E"/>
                </a:solidFill>
                <a:latin typeface="Aptos"/>
              </a:rPr>
              <a:t>Başarı, yalnızca arayüzün görünmesiyle değil; işlevlerin, güvenliğin ve testlerin doğrulanmasıyla ölçülecek.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5120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233A"/>
                </a:solidFill>
                <a:latin typeface="Aptos"/>
              </a:rPr>
              <a:t>BAŞARI ÖLÇÜTLERİ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64208"/>
            <a:ext cx="5212080" cy="539496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737360"/>
            <a:ext cx="13258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A496"/>
                </a:solidFill>
                <a:latin typeface="Aptos"/>
              </a:rPr>
              <a:t>Menü yönetimi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19072"/>
            <a:ext cx="36118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73242"/>
                </a:solidFill>
                <a:latin typeface="Aptos"/>
              </a:rPr>
              <a:t>Yetkili kullanıcı menü ekleyip düzenleyebilmeli.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286000"/>
            <a:ext cx="5212080" cy="539496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359152"/>
            <a:ext cx="13258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A496"/>
                </a:solidFill>
                <a:latin typeface="Aptos"/>
              </a:rPr>
              <a:t>Geri bildirim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40864"/>
            <a:ext cx="36118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73242"/>
                </a:solidFill>
                <a:latin typeface="Aptos"/>
              </a:rPr>
              <a:t>Öğrenci puan ve yorum gönderebilmeli.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907792"/>
            <a:ext cx="5212080" cy="539496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2980944"/>
            <a:ext cx="13258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A496"/>
                </a:solidFill>
                <a:latin typeface="Aptos"/>
              </a:rPr>
              <a:t>Rol güvenliği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962656"/>
            <a:ext cx="36118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73242"/>
                </a:solidFill>
                <a:latin typeface="Aptos"/>
              </a:rPr>
              <a:t>Yetkisiz işlemler backend tarafından engellenmeli.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529584"/>
            <a:ext cx="5212080" cy="539496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3602736"/>
            <a:ext cx="13258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A496"/>
                </a:solidFill>
                <a:latin typeface="Aptos"/>
              </a:rPr>
              <a:t>Veri kalıcılığı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584448"/>
            <a:ext cx="36118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73242"/>
                </a:solidFill>
                <a:latin typeface="Aptos"/>
              </a:rPr>
              <a:t>Kayıtlar yeniden girişte de veritabanından gelmeli.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151376"/>
            <a:ext cx="5212080" cy="539496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4224528"/>
            <a:ext cx="13258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A496"/>
                </a:solidFill>
                <a:latin typeface="Aptos"/>
              </a:rPr>
              <a:t>Raporlama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206240"/>
            <a:ext cx="36118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73242"/>
                </a:solidFill>
                <a:latin typeface="Aptos"/>
              </a:rPr>
              <a:t>Puan ortalaması doğru hesaplanmalı.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773168"/>
            <a:ext cx="5212080" cy="539496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4846320"/>
            <a:ext cx="13258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8A496"/>
                </a:solidFill>
                <a:latin typeface="Aptos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828032"/>
            <a:ext cx="361188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73242"/>
                </a:solidFill>
                <a:latin typeface="Aptos"/>
              </a:rPr>
              <a:t>Kritik senaryolar test edilip hata raporu hazırlanmalı.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261872"/>
            <a:ext cx="5303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233A"/>
                </a:solidFill>
                <a:latin typeface="Aptos"/>
              </a:rPr>
              <a:t>RİSKLER VE ÇÖZÜM PLANI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64208"/>
            <a:ext cx="541324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54496" y="1773936"/>
            <a:ext cx="1417320" cy="658368"/>
          </a:xfrm>
          <a:prstGeom prst="roundRect">
            <a:avLst/>
          </a:prstGeom>
          <a:solidFill>
            <a:srgbClr val="FC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27648" y="1828800"/>
            <a:ext cx="128016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233A"/>
                </a:solidFill>
                <a:latin typeface="Aptos"/>
              </a:rPr>
              <a:t>Teknik uyumsuzluk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8975" y="1746504"/>
            <a:ext cx="36301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73242"/>
                </a:solidFill>
                <a:latin typeface="Aptos"/>
              </a:rPr>
              <a:t>React–API bağlantısı veya paket sürümleri sorun çıkarabilir.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5" y="2103120"/>
            <a:ext cx="36301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A7E"/>
                </a:solidFill>
                <a:latin typeface="Aptos"/>
              </a:rPr>
              <a:t>Çözüm: Erken prototip, sürüm sabitleme ve küçük entegrasyon testleri.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2670048"/>
            <a:ext cx="541324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54496" y="2779776"/>
            <a:ext cx="1417320" cy="658368"/>
          </a:xfrm>
          <a:prstGeom prst="roundRect">
            <a:avLst/>
          </a:prstGeom>
          <a:solidFill>
            <a:srgbClr val="E2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7648" y="2834640"/>
            <a:ext cx="128016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233A"/>
                </a:solidFill>
                <a:latin typeface="Aptos"/>
              </a:rPr>
              <a:t>Veri / yetki hatası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8975" y="2752344"/>
            <a:ext cx="36301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73242"/>
                </a:solidFill>
                <a:latin typeface="Aptos"/>
              </a:rPr>
              <a:t>Yanlış rol kontrolü veya hatalı kayıt riski.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08975" y="3108960"/>
            <a:ext cx="36301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A7E"/>
                </a:solidFill>
                <a:latin typeface="Aptos"/>
              </a:rPr>
              <a:t>Çözüm: Backend yetkilendirmesi, doğrulama kuralları ve test senaryoları.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3675888"/>
            <a:ext cx="541324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54496" y="3785616"/>
            <a:ext cx="1417320" cy="658368"/>
          </a:xfrm>
          <a:prstGeom prst="roundRect">
            <a:avLst/>
          </a:prstGeom>
          <a:solidFill>
            <a:srgbClr val="E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7648" y="3840480"/>
            <a:ext cx="128016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233A"/>
                </a:solidFill>
                <a:latin typeface="Aptos"/>
              </a:rPr>
              <a:t>Zaman kayması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8975" y="3758184"/>
            <a:ext cx="36301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73242"/>
                </a:solidFill>
                <a:latin typeface="Aptos"/>
              </a:rPr>
              <a:t>Özelliklerin planlanandan uzun sürmesi.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8975" y="4114800"/>
            <a:ext cx="36301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A7E"/>
                </a:solidFill>
                <a:latin typeface="Aptos"/>
              </a:rPr>
              <a:t>Çözüm: Önce temel menü ve geri bildirim akışı; ek özellikleri önceliklendirme.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4681728"/>
            <a:ext cx="541324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254496" y="4791456"/>
            <a:ext cx="1417320" cy="658368"/>
          </a:xfrm>
          <a:prstGeom prst="roundRect">
            <a:avLst/>
          </a:prstGeom>
          <a:solidFill>
            <a:srgbClr val="FAF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7648" y="4846320"/>
            <a:ext cx="128016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233A"/>
                </a:solidFill>
                <a:latin typeface="Aptos"/>
              </a:rPr>
              <a:t>Ekip içi entegrasyon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8975" y="4764024"/>
            <a:ext cx="36301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73242"/>
                </a:solidFill>
                <a:latin typeface="Aptos"/>
              </a:rPr>
              <a:t>Kod çakışması veya farklı beklentiler.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08975" y="5120640"/>
            <a:ext cx="36301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A7E"/>
                </a:solidFill>
                <a:latin typeface="Aptos"/>
              </a:rPr>
              <a:t>Çözüm: Görev sınırlarını belirleme, Git üzerinden düzenli birleştirme ve kod inceleme.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98932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A7E"/>
                </a:solidFill>
                <a:latin typeface="Aptos"/>
              </a:rPr>
              <a:t>Not: Proje boyunca tespit edilen hatalar, yeniden üretme adımları ve beklenen/gerçekleşen sonuçlarla raporlanacaktır.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53796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6A7E"/>
                </a:solidFill>
                <a:latin typeface="Aptos"/>
              </a:rPr>
              <a:t>KAMPÜS YEMEKHANE VE ÖĞRENCİ GERİ BİLDİRİM SİSTEMİ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A7E"/>
                </a:solidFill>
                <a:latin typeface="Apto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726</Words>
  <Application>Microsoft Office PowerPoint</Application>
  <PresentationFormat>Geniş ekran</PresentationFormat>
  <Paragraphs>118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Kampüs Yemekhane ve Öğrenci Geri Bildirim Sistemi</dc:title>
  <dc:subject>Web Programlama Proje Sunumu</dc:subject>
  <dc:creator>Proje Ekibi</dc:creator>
  <cp:keywords/>
  <dc:description>generated using python-pptx</dc:description>
  <cp:lastModifiedBy>abdüllatif mehtioğlu</cp:lastModifiedBy>
  <cp:revision>3</cp:revision>
  <dcterms:created xsi:type="dcterms:W3CDTF">2013-01-27T09:14:16Z</dcterms:created>
  <dcterms:modified xsi:type="dcterms:W3CDTF">2026-10-19T16:20:13Z</dcterms:modified>
  <cp:category/>
</cp:coreProperties>
</file>